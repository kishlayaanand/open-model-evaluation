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cs.google.com/spreadsheets/d/1PrcJIKPkwbgywbeVy2SNhAnAWOLGyZ07uVPeNWqWM8o/edit?usp=sharing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7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955279" y="731520"/>
            <a:ext cx="3566160" cy="5303520"/>
          </a:xfrm>
          <a:prstGeom prst="roundRect">
            <a:avLst>
              <a:gd name="adj" fmla="val 12000"/>
            </a:avLst>
          </a:prstGeom>
          <a:solidFill>
            <a:srgbClr val="193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503920" y="3337560"/>
            <a:ext cx="256032" cy="1188720"/>
          </a:xfrm>
          <a:prstGeom prst="roundRect">
            <a:avLst>
              <a:gd name="adj" fmla="val 12000"/>
            </a:avLst>
          </a:prstGeom>
          <a:solidFill>
            <a:srgbClr val="E2A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006840" y="2606040"/>
            <a:ext cx="256032" cy="1920240"/>
          </a:xfrm>
          <a:prstGeom prst="roundRect">
            <a:avLst>
              <a:gd name="adj" fmla="val 12000"/>
            </a:avLst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509760" y="2971800"/>
            <a:ext cx="256032" cy="1554480"/>
          </a:xfrm>
          <a:prstGeom prst="roundRect">
            <a:avLst>
              <a:gd name="adj" fmla="val 12000"/>
            </a:avLst>
          </a:prstGeom>
          <a:solidFill>
            <a:srgbClr val="E2A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12680" y="2057400"/>
            <a:ext cx="256032" cy="2468880"/>
          </a:xfrm>
          <a:prstGeom prst="roundRect">
            <a:avLst>
              <a:gd name="adj" fmla="val 12000"/>
            </a:avLst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515600" y="2423160"/>
            <a:ext cx="256032" cy="2103120"/>
          </a:xfrm>
          <a:prstGeom prst="roundRect">
            <a:avLst>
              <a:gd name="adj" fmla="val 12000"/>
            </a:avLst>
          </a:prstGeom>
          <a:solidFill>
            <a:srgbClr val="E2A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"/>
            <a:ext cx="68580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100" b="1" i="0">
                <a:solidFill>
                  <a:srgbClr val="E2A437"/>
                </a:solidFill>
                <a:latin typeface="Aptos"/>
              </a:defRPr>
            </a:pPr>
            <a:r>
              <a:t>HACKTOBERFEST  •  HACK 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371600"/>
            <a:ext cx="7498079" cy="1371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3600" b="1" i="0">
                <a:solidFill>
                  <a:srgbClr val="FFFFFF"/>
                </a:solidFill>
                <a:latin typeface="Aptos"/>
              </a:defRPr>
            </a:pPr>
            <a:r>
              <a:t>OPEN MODEL</a:t>
            </a:r>
          </a:p>
          <a:p>
            <a:pPr algn="l">
              <a:spcAft>
                <a:spcPts val="200"/>
              </a:spcAft>
              <a:defRPr sz="3600" b="1" i="0">
                <a:solidFill>
                  <a:srgbClr val="FFFFFF"/>
                </a:solidFill>
                <a:latin typeface="Aptos"/>
              </a:defRPr>
            </a:pPr>
            <a:r>
              <a:t>SHOWDOWN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971800"/>
            <a:ext cx="685800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700" b="0" i="0">
                <a:solidFill>
                  <a:srgbClr val="D6E3EF"/>
                </a:solidFill>
                <a:latin typeface="Aptos"/>
              </a:defRPr>
            </a:pPr>
            <a:r>
              <a:t>A comparative evaluation of four open-weight AI models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94760"/>
            <a:ext cx="68580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30 prompts  •  6 categories  •  4 scoring dimensions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389120"/>
            <a:ext cx="6217920" cy="18288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617720"/>
            <a:ext cx="62179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000" b="0" i="0">
                <a:solidFill>
                  <a:srgbClr val="C2D3E2"/>
                </a:solidFill>
                <a:latin typeface="Aptos"/>
              </a:defRPr>
            </a:pPr>
            <a:r>
              <a:t>Prepared from the merged scorecards and evaluation presentations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623560"/>
            <a:ext cx="3794760" cy="621792"/>
          </a:xfrm>
          <a:prstGeom prst="roundRect">
            <a:avLst>
              <a:gd name="adj" fmla="val 12000"/>
            </a:avLst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769864"/>
            <a:ext cx="3429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200"/>
              </a:spcAft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TOP SCORE  •  GEMMA 4 31B  •  582 / 600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87000" y="6355080"/>
            <a:ext cx="11887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200"/>
              </a:spcAft>
              <a:defRPr sz="800" b="1" i="0">
                <a:solidFill>
                  <a:srgbClr val="C4D8E6"/>
                </a:solidFill>
                <a:latin typeface="Aptos"/>
              </a:defRPr>
            </a:pPr>
            <a:r>
              <a:t>01 /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900" b="1" i="0">
                <a:solidFill>
                  <a:srgbClr val="008991"/>
                </a:solidFill>
                <a:latin typeface="Aptos"/>
              </a:defRPr>
            </a:pPr>
            <a:r>
              <a:t>01 / SUMMARY +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21207"/>
            <a:ext cx="111556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2400" b="1" i="0">
                <a:solidFill>
                  <a:srgbClr val="102741"/>
                </a:solidFill>
                <a:latin typeface="Aptos"/>
              </a:defRPr>
            </a:pPr>
            <a:r>
              <a:t>A narrow lead — measured with a small manual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110642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050" b="0" i="0">
                <a:solidFill>
                  <a:srgbClr val="5B6C7C"/>
                </a:solidFill>
                <a:latin typeface="Aptos"/>
              </a:defRPr>
            </a:pPr>
            <a:r>
              <a:t>Gemma 4 31B leads overall; gpt-oss-120b is strongest for factual accuracy and coding.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1155680" cy="22860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8229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800" b="0" i="0">
                <a:solidFill>
                  <a:srgbClr val="5B6C7C"/>
                </a:solidFill>
                <a:latin typeface="Aptos"/>
              </a:defRPr>
            </a:pPr>
            <a:r>
              <a:t>HACKTOBERFEST HACK DAY  •  OPEN MODEL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5486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200"/>
              </a:spcAft>
              <a:defRPr sz="800" b="1" i="0">
                <a:solidFill>
                  <a:srgbClr val="008991"/>
                </a:solidFill>
                <a:latin typeface="Aptos"/>
              </a:defRPr>
            </a:pPr>
            <a:r>
              <a:t>02 / 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72768"/>
            <a:ext cx="260604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64208"/>
            <a:ext cx="23317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2000" b="1" i="0">
                <a:solidFill>
                  <a:srgbClr val="008991"/>
                </a:solidFill>
                <a:latin typeface="Aptos"/>
              </a:defRPr>
            </a:pPr>
            <a:r>
              <a:t>582 / 600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75104"/>
            <a:ext cx="23317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050" b="1" i="0">
                <a:solidFill>
                  <a:srgbClr val="102741"/>
                </a:solidFill>
                <a:latin typeface="Aptos"/>
              </a:defRPr>
            </a:pPr>
            <a:r>
              <a:t>Gemma 4 31B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85416"/>
            <a:ext cx="23317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850" b="0" i="0">
                <a:solidFill>
                  <a:srgbClr val="5B6C7C"/>
                </a:solidFill>
                <a:latin typeface="Aptos"/>
              </a:defRPr>
            </a:pPr>
            <a:r>
              <a:t>97.00% of available points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64992" y="1572768"/>
            <a:ext cx="260604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02152" y="1664208"/>
            <a:ext cx="23317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2000" b="1" i="0">
                <a:solidFill>
                  <a:srgbClr val="E2A437"/>
                </a:solidFill>
                <a:latin typeface="Aptos"/>
              </a:defRPr>
            </a:pPr>
            <a:r>
              <a:t>574 / 600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2152" y="1975104"/>
            <a:ext cx="23317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050" b="1" i="0">
                <a:solidFill>
                  <a:srgbClr val="102741"/>
                </a:solidFill>
                <a:latin typeface="Aptos"/>
              </a:defRPr>
            </a:pPr>
            <a:r>
              <a:t>gpt-oss-120b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2152" y="2185416"/>
            <a:ext cx="23317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850" b="0" i="0">
                <a:solidFill>
                  <a:srgbClr val="5B6C7C"/>
                </a:solidFill>
                <a:latin typeface="Aptos"/>
              </a:defRPr>
            </a:pPr>
            <a:r>
              <a:t>95.67% of available 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1572768"/>
            <a:ext cx="260604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18504" y="1664208"/>
            <a:ext cx="23317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2000" b="1" i="0">
                <a:solidFill>
                  <a:srgbClr val="008991"/>
                </a:solidFill>
                <a:latin typeface="Aptos"/>
              </a:defRPr>
            </a:pPr>
            <a:r>
              <a:t>8 points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18504" y="1975104"/>
            <a:ext cx="23317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050" b="1" i="0">
                <a:solidFill>
                  <a:srgbClr val="102741"/>
                </a:solidFill>
                <a:latin typeface="Aptos"/>
              </a:defRPr>
            </a:pPr>
            <a:r>
              <a:t>Top-two gap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18504" y="2185416"/>
            <a:ext cx="23317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850" b="0" i="0">
                <a:solidFill>
                  <a:srgbClr val="5B6C7C"/>
                </a:solidFill>
                <a:latin typeface="Aptos"/>
              </a:defRPr>
            </a:pPr>
            <a:r>
              <a:t>Only 1.33 percentage points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97696" y="1572768"/>
            <a:ext cx="260604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34856" y="1664208"/>
            <a:ext cx="23317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2000" b="1" i="0">
                <a:solidFill>
                  <a:srgbClr val="E2A437"/>
                </a:solidFill>
                <a:latin typeface="Aptos"/>
              </a:defRPr>
            </a:pPr>
            <a:r>
              <a:t>30 prompts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34856" y="1975104"/>
            <a:ext cx="23317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050" b="1" i="0">
                <a:solidFill>
                  <a:srgbClr val="102741"/>
                </a:solidFill>
                <a:latin typeface="Aptos"/>
              </a:defRPr>
            </a:pPr>
            <a:r>
              <a:t>Test size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34856" y="2185416"/>
            <a:ext cx="23317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850" b="0" i="0">
                <a:solidFill>
                  <a:srgbClr val="5B6C7C"/>
                </a:solidFill>
                <a:latin typeface="Aptos"/>
              </a:defRPr>
            </a:pPr>
            <a:r>
              <a:t>5 prompts per category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2606040"/>
            <a:ext cx="5394960" cy="11155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2606040"/>
            <a:ext cx="64008" cy="1115568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2715768"/>
            <a:ext cx="5120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200" b="1" i="0">
                <a:solidFill>
                  <a:srgbClr val="102741"/>
                </a:solidFill>
                <a:latin typeface="Aptos"/>
              </a:defRPr>
            </a:pPr>
            <a:r>
              <a:t>WHAT THE RESULTS SAY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3026664"/>
            <a:ext cx="5120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019" b="0" i="0">
                <a:solidFill>
                  <a:srgbClr val="22303F"/>
                </a:solidFill>
                <a:latin typeface="Aptos"/>
              </a:defRPr>
            </a:pPr>
            <a:r>
              <a:t>• Gemma 4 31B: best overall and perfect instruction-following (100/100).</a:t>
            </a:r>
          </a:p>
          <a:p>
            <a:pPr algn="l">
              <a:spcAft>
                <a:spcPts val="200"/>
              </a:spcAft>
              <a:defRPr sz="1019" b="0" i="0">
                <a:solidFill>
                  <a:srgbClr val="22303F"/>
                </a:solidFill>
                <a:latin typeface="Aptos"/>
              </a:defRPr>
            </a:pPr>
            <a:r>
              <a:t>• gpt-oss-120b: 100/100 in factual accuracy and coding.</a:t>
            </a:r>
          </a:p>
          <a:p>
            <a:pPr algn="l">
              <a:spcAft>
                <a:spcPts val="200"/>
              </a:spcAft>
              <a:defRPr sz="1019" b="0" i="0">
                <a:solidFill>
                  <a:srgbClr val="22303F"/>
                </a:solidFill>
                <a:latin typeface="Aptos"/>
              </a:defRPr>
            </a:pPr>
            <a:r>
              <a:t>• gpt-oss-20b: coding is strong (100/100); facts are its clearest weakness (78/100).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2606040"/>
            <a:ext cx="5440680" cy="11155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72200" y="2606040"/>
            <a:ext cx="64008" cy="1115568"/>
          </a:xfrm>
          <a:prstGeom prst="rect">
            <a:avLst/>
          </a:prstGeom>
          <a:solidFill>
            <a:srgbClr val="E2A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36792" y="2715768"/>
            <a:ext cx="5166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200" b="1" i="0">
                <a:solidFill>
                  <a:srgbClr val="102741"/>
                </a:solidFill>
                <a:latin typeface="Aptos"/>
              </a:defRPr>
            </a:pPr>
            <a:r>
              <a:t>HOW TO READ THE WIN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36792" y="3026664"/>
            <a:ext cx="516636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050" b="0" i="0">
                <a:solidFill>
                  <a:srgbClr val="22303F"/>
                </a:solidFill>
                <a:latin typeface="Aptos"/>
              </a:defRPr>
            </a:pPr>
            <a:r>
              <a:t>The lead is narrow and the test is small. One scorer per model, one run per prompt, and near-ceiling scores limit confidence. Treat this as a useful directional benchmark—not a universal ranking.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3913632"/>
            <a:ext cx="4114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200" b="1" i="0">
                <a:solidFill>
                  <a:srgbClr val="102741"/>
                </a:solidFill>
                <a:latin typeface="Aptos"/>
              </a:defRPr>
            </a:pPr>
            <a:r>
              <a:t>30 PROMPTS • SIX CATEGORIES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4251960"/>
            <a:ext cx="1719072" cy="338328"/>
          </a:xfrm>
          <a:prstGeom prst="roundRect">
            <a:avLst>
              <a:gd name="adj" fmla="val 12000"/>
            </a:avLst>
          </a:prstGeom>
          <a:solidFill>
            <a:srgbClr val="DA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648" y="4325112"/>
            <a:ext cx="162763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200"/>
              </a:spcAft>
              <a:defRPr sz="900" b="1" i="0">
                <a:solidFill>
                  <a:srgbClr val="008991"/>
                </a:solidFill>
                <a:latin typeface="Aptos"/>
              </a:defRPr>
            </a:pPr>
            <a:r>
              <a:t>Reasoning &amp; Maths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" y="4599432"/>
            <a:ext cx="1627632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200"/>
              </a:spcAft>
              <a:defRPr sz="800" b="0" i="0">
                <a:solidFill>
                  <a:srgbClr val="5B6C7C"/>
                </a:solidFill>
                <a:latin typeface="Aptos"/>
              </a:defRPr>
            </a:pPr>
            <a:r>
              <a:t>5 prompts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441448" y="4251960"/>
            <a:ext cx="1719072" cy="338328"/>
          </a:xfrm>
          <a:prstGeom prst="roundRect">
            <a:avLst>
              <a:gd name="adj" fmla="val 12000"/>
            </a:avLst>
          </a:prstGeom>
          <a:solidFill>
            <a:srgbClr val="DA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487168" y="4325112"/>
            <a:ext cx="162763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200"/>
              </a:spcAft>
              <a:defRPr sz="900" b="1" i="0">
                <a:solidFill>
                  <a:srgbClr val="008991"/>
                </a:solidFill>
                <a:latin typeface="Aptos"/>
              </a:defRPr>
            </a:pPr>
            <a:r>
              <a:t>Factual Accuracy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87168" y="4599432"/>
            <a:ext cx="1627632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200"/>
              </a:spcAft>
              <a:defRPr sz="800" b="0" i="0">
                <a:solidFill>
                  <a:srgbClr val="5B6C7C"/>
                </a:solidFill>
                <a:latin typeface="Aptos"/>
              </a:defRPr>
            </a:pPr>
            <a:r>
              <a:t>5 prompts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315968" y="4251960"/>
            <a:ext cx="1719072" cy="338328"/>
          </a:xfrm>
          <a:prstGeom prst="roundRect">
            <a:avLst>
              <a:gd name="adj" fmla="val 12000"/>
            </a:avLst>
          </a:prstGeom>
          <a:solidFill>
            <a:srgbClr val="DA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61688" y="4325112"/>
            <a:ext cx="162763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200"/>
              </a:spcAft>
              <a:defRPr sz="900" b="1" i="0">
                <a:solidFill>
                  <a:srgbClr val="008991"/>
                </a:solidFill>
                <a:latin typeface="Aptos"/>
              </a:defRPr>
            </a:pPr>
            <a:r>
              <a:t>Instruction Following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61688" y="4599432"/>
            <a:ext cx="1627632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200"/>
              </a:spcAft>
              <a:defRPr sz="800" b="0" i="0">
                <a:solidFill>
                  <a:srgbClr val="5B6C7C"/>
                </a:solidFill>
                <a:latin typeface="Aptos"/>
              </a:defRPr>
            </a:pPr>
            <a:r>
              <a:t>5 prompts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66928" y="4709160"/>
            <a:ext cx="1719072" cy="338328"/>
          </a:xfrm>
          <a:prstGeom prst="roundRect">
            <a:avLst>
              <a:gd name="adj" fmla="val 12000"/>
            </a:avLst>
          </a:prstGeom>
          <a:solidFill>
            <a:srgbClr val="DA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2648" y="4782312"/>
            <a:ext cx="162763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200"/>
              </a:spcAft>
              <a:defRPr sz="900" b="1" i="0">
                <a:solidFill>
                  <a:srgbClr val="008991"/>
                </a:solidFill>
                <a:latin typeface="Aptos"/>
              </a:defRPr>
            </a:pPr>
            <a:r>
              <a:t>Coding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" y="5056632"/>
            <a:ext cx="1627632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200"/>
              </a:spcAft>
              <a:defRPr sz="800" b="0" i="0">
                <a:solidFill>
                  <a:srgbClr val="5B6C7C"/>
                </a:solidFill>
                <a:latin typeface="Aptos"/>
              </a:defRPr>
            </a:pPr>
            <a:r>
              <a:t>5 prompts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441448" y="4709160"/>
            <a:ext cx="1719072" cy="338328"/>
          </a:xfrm>
          <a:prstGeom prst="roundRect">
            <a:avLst>
              <a:gd name="adj" fmla="val 12000"/>
            </a:avLst>
          </a:prstGeom>
          <a:solidFill>
            <a:srgbClr val="DA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487168" y="4782312"/>
            <a:ext cx="162763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200"/>
              </a:spcAft>
              <a:defRPr sz="900" b="1" i="0">
                <a:solidFill>
                  <a:srgbClr val="008991"/>
                </a:solidFill>
                <a:latin typeface="Aptos"/>
              </a:defRPr>
            </a:pPr>
            <a:r>
              <a:t>Indian Languages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487168" y="5056632"/>
            <a:ext cx="1627632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200"/>
              </a:spcAft>
              <a:defRPr sz="800" b="0" i="0">
                <a:solidFill>
                  <a:srgbClr val="5B6C7C"/>
                </a:solidFill>
                <a:latin typeface="Aptos"/>
              </a:defRPr>
            </a:pPr>
            <a:r>
              <a:t>5 prompts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315968" y="4709160"/>
            <a:ext cx="1719072" cy="338328"/>
          </a:xfrm>
          <a:prstGeom prst="roundRect">
            <a:avLst>
              <a:gd name="adj" fmla="val 12000"/>
            </a:avLst>
          </a:prstGeom>
          <a:solidFill>
            <a:srgbClr val="DA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61688" y="4782312"/>
            <a:ext cx="162763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200"/>
              </a:spcAft>
              <a:defRPr sz="900" b="1" i="0">
                <a:solidFill>
                  <a:srgbClr val="008991"/>
                </a:solidFill>
                <a:latin typeface="Aptos"/>
              </a:defRPr>
            </a:pPr>
            <a:r>
              <a:t>Summarisation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61688" y="5056632"/>
            <a:ext cx="1627632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200"/>
              </a:spcAft>
              <a:defRPr sz="800" b="0" i="0">
                <a:solidFill>
                  <a:srgbClr val="5B6C7C"/>
                </a:solidFill>
                <a:latin typeface="Aptos"/>
              </a:defRPr>
            </a:pPr>
            <a:r>
              <a:t>5 prompts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09360" y="3913632"/>
            <a:ext cx="52120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200" b="1" i="0">
                <a:solidFill>
                  <a:srgbClr val="102741"/>
                </a:solidFill>
                <a:latin typeface="Aptos"/>
              </a:defRPr>
            </a:pPr>
            <a:r>
              <a:t>SCORING RUBRIC • 1–3–5 SCALE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09360" y="4224528"/>
            <a:ext cx="5257800" cy="1463040"/>
          </a:xfrm>
          <a:prstGeom prst="rect">
            <a:avLst/>
          </a:prstGeom>
          <a:noFill/>
        </p:spPr>
        <p:txBody>
          <a:bodyPr wrap="square" lIns="73152" rIns="73152" tIns="54864" bIns="27432">
            <a:spAutoFit/>
          </a:bodyPr>
          <a:lstStyle/>
          <a:p>
            <a:pPr>
              <a:spcAft>
                <a:spcPts val="400"/>
              </a:spcAft>
              <a:defRPr sz="919">
                <a:solidFill>
                  <a:srgbClr val="22303F"/>
                </a:solidFill>
                <a:latin typeface="Aptos"/>
              </a:defRPr>
            </a:pPr>
            <a:r>
              <a:t>Correctness: 1 incorrect/invented • 3 partly correct • 5 fully correct</a:t>
            </a:r>
          </a:p>
          <a:p>
            <a:pPr>
              <a:spcAft>
                <a:spcPts val="400"/>
              </a:spcAft>
              <a:defRPr sz="919">
                <a:solidFill>
                  <a:srgbClr val="22303F"/>
                </a:solidFill>
                <a:latin typeface="Aptos"/>
              </a:defRPr>
            </a:pPr>
            <a:r>
              <a:t>Instructions: 1 ignored • 3 followed some • 5 followed every instruction</a:t>
            </a:r>
          </a:p>
          <a:p>
            <a:pPr>
              <a:spcAft>
                <a:spcPts val="400"/>
              </a:spcAft>
              <a:defRPr sz="919">
                <a:solidFill>
                  <a:srgbClr val="22303F"/>
                </a:solidFill>
                <a:latin typeface="Aptos"/>
              </a:defRPr>
            </a:pPr>
            <a:r>
              <a:t>Clarity: 1 difficult • 3 understandable • 5 clear and well organised</a:t>
            </a:r>
          </a:p>
          <a:p>
            <a:pPr>
              <a:spcAft>
                <a:spcPts val="400"/>
              </a:spcAft>
              <a:defRPr sz="919">
                <a:solidFill>
                  <a:srgbClr val="22303F"/>
                </a:solidFill>
                <a:latin typeface="Aptos"/>
              </a:defRPr>
            </a:pPr>
            <a:r>
              <a:t>Honesty: 1 confident falsehood • 3 unsupported claims • 5 accurate and acknowledges uncertainty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66928" y="5806440"/>
            <a:ext cx="10972800" cy="438912"/>
          </a:xfrm>
          <a:prstGeom prst="roundRect">
            <a:avLst>
              <a:gd name="adj" fmla="val 12000"/>
            </a:avLst>
          </a:prstGeom>
          <a:solidFill>
            <a:srgbClr val="E7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1520" y="5897880"/>
            <a:ext cx="106527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000" b="1" i="0">
                <a:solidFill>
                  <a:srgbClr val="102741"/>
                </a:solidFill>
                <a:latin typeface="Aptos"/>
              </a:defRPr>
            </a:pPr>
            <a:r>
              <a:t>Scale: 1, 3, or 5 per dimension • 4 dimensions = 4–20 per prompt • 30 prompts = 600 points per model.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900" b="1" i="0">
                <a:solidFill>
                  <a:srgbClr val="008991"/>
                </a:solidFill>
                <a:latin typeface="Aptos"/>
              </a:defRPr>
            </a:pPr>
            <a:r>
              <a:t>02 / MODEL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21207"/>
            <a:ext cx="111556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2400" b="1" i="0">
                <a:solidFill>
                  <a:srgbClr val="102741"/>
                </a:solidFill>
                <a:latin typeface="Aptos"/>
              </a:defRPr>
            </a:pPr>
            <a:r>
              <a:t>Four models, two design philosophies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110642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050" b="0" i="0">
                <a:solidFill>
                  <a:srgbClr val="5B6C7C"/>
                </a:solidFill>
                <a:latin typeface="Aptos"/>
              </a:defRPr>
            </a:pPr>
            <a:r>
              <a:t>Specifications below are transcribed from the supplied evaluation deck; verify against current official model cards before deployment.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1155680" cy="22860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8229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800" b="0" i="0">
                <a:solidFill>
                  <a:srgbClr val="5B6C7C"/>
                </a:solidFill>
                <a:latin typeface="Aptos"/>
              </a:defRPr>
            </a:pPr>
            <a:r>
              <a:t>HACKTOBERFEST HACK DAY  •  OPEN MODEL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5486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200"/>
              </a:spcAft>
              <a:defRPr sz="800" b="1" i="0">
                <a:solidFill>
                  <a:srgbClr val="008991"/>
                </a:solidFill>
                <a:latin typeface="Aptos"/>
              </a:defRPr>
            </a:pPr>
            <a:r>
              <a:t>03 / 08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572768"/>
          <a:ext cx="1106424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645920"/>
                <a:gridCol w="1234440"/>
                <a:gridCol w="1325880"/>
                <a:gridCol w="1188720"/>
                <a:gridCol w="1097280"/>
                <a:gridCol w="2651760"/>
              </a:tblGrid>
              <a:tr h="393192">
                <a:tc>
                  <a:txBody>
                    <a:bodyPr/>
                    <a:lstStyle/>
                    <a:p>
                      <a:pPr>
                        <a:defRPr sz="92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Model</a:t>
                      </a:r>
                    </a:p>
                  </a:txBody>
                  <a:tcPr marL="54864" marR="36576" marT="27432" marB="18288" anchor="ctr">
                    <a:solidFill>
                      <a:srgbClr val="1027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2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Developer</a:t>
                      </a:r>
                    </a:p>
                  </a:txBody>
                  <a:tcPr marL="54864" marR="36576" marT="27432" marB="18288" anchor="ctr">
                    <a:solidFill>
                      <a:srgbClr val="1027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2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Total params</a:t>
                      </a:r>
                    </a:p>
                  </a:txBody>
                  <a:tcPr marL="54864" marR="36576" marT="27432" marB="18288" anchor="ctr">
                    <a:solidFill>
                      <a:srgbClr val="1027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2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Active params</a:t>
                      </a:r>
                    </a:p>
                  </a:txBody>
                  <a:tcPr marL="54864" marR="36576" marT="27432" marB="18288" anchor="ctr">
                    <a:solidFill>
                      <a:srgbClr val="1027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2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Architecture</a:t>
                      </a:r>
                    </a:p>
                  </a:txBody>
                  <a:tcPr marL="54864" marR="36576" marT="27432" marB="18288" anchor="ctr">
                    <a:solidFill>
                      <a:srgbClr val="1027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2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Context</a:t>
                      </a:r>
                    </a:p>
                  </a:txBody>
                  <a:tcPr marL="54864" marR="36576" marT="27432" marB="18288" anchor="ctr">
                    <a:solidFill>
                      <a:srgbClr val="1027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2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Input</a:t>
                      </a:r>
                    </a:p>
                  </a:txBody>
                  <a:tcPr marL="54864" marR="36576" marT="27432" marB="18288" anchor="ctr">
                    <a:solidFill>
                      <a:srgbClr val="10274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940" b="0">
                          <a:solidFill>
                            <a:srgbClr val="22303F"/>
                          </a:solidFill>
                          <a:latin typeface="Aptos"/>
                        </a:defRPr>
                      </a:pPr>
                      <a:r>
                        <a:t>gpt-oss-120b</a:t>
                      </a:r>
                    </a:p>
                  </a:txBody>
                  <a:tcPr marL="54864" marR="36576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 b="0">
                          <a:solidFill>
                            <a:srgbClr val="22303F"/>
                          </a:solidFill>
                          <a:latin typeface="Aptos"/>
                        </a:defRPr>
                      </a:pPr>
                      <a:r>
                        <a:t>OpenAI</a:t>
                      </a:r>
                    </a:p>
                  </a:txBody>
                  <a:tcPr marL="54864" marR="36576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 b="0">
                          <a:solidFill>
                            <a:srgbClr val="22303F"/>
                          </a:solidFill>
                          <a:latin typeface="Aptos"/>
                        </a:defRPr>
                      </a:pPr>
                      <a:r>
                        <a:t>~117B</a:t>
                      </a:r>
                    </a:p>
                  </a:txBody>
                  <a:tcPr marL="54864" marR="36576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 b="0">
                          <a:solidFill>
                            <a:srgbClr val="22303F"/>
                          </a:solidFill>
                          <a:latin typeface="Aptos"/>
                        </a:defRPr>
                      </a:pPr>
                      <a:r>
                        <a:t>~5.1B</a:t>
                      </a:r>
                    </a:p>
                  </a:txBody>
                  <a:tcPr marL="54864" marR="36576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 b="0">
                          <a:solidFill>
                            <a:srgbClr val="22303F"/>
                          </a:solidFill>
                          <a:latin typeface="Aptos"/>
                        </a:defRPr>
                      </a:pPr>
                      <a:r>
                        <a:t>MoE</a:t>
                      </a:r>
                    </a:p>
                  </a:txBody>
                  <a:tcPr marL="54864" marR="36576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 b="0">
                          <a:solidFill>
                            <a:srgbClr val="22303F"/>
                          </a:solidFill>
                          <a:latin typeface="Aptos"/>
                        </a:defRPr>
                      </a:pPr>
                      <a:r>
                        <a:t>128K</a:t>
                      </a:r>
                    </a:p>
                  </a:txBody>
                  <a:tcPr marL="54864" marR="36576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 b="0">
                          <a:solidFill>
                            <a:srgbClr val="22303F"/>
                          </a:solidFill>
                          <a:latin typeface="Aptos"/>
                        </a:defRPr>
                      </a:pPr>
                      <a:r>
                        <a:t>Text</a:t>
                      </a:r>
                    </a:p>
                  </a:txBody>
                  <a:tcPr marL="54864" marR="36576" marT="27432" marB="18288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940" b="0">
                          <a:solidFill>
                            <a:srgbClr val="22303F"/>
                          </a:solidFill>
                          <a:latin typeface="Aptos"/>
                        </a:defRPr>
                      </a:pPr>
                      <a:r>
                        <a:t>gpt-oss-20b</a:t>
                      </a:r>
                    </a:p>
                  </a:txBody>
                  <a:tcPr marL="54864" marR="36576" marT="27432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 b="0">
                          <a:solidFill>
                            <a:srgbClr val="22303F"/>
                          </a:solidFill>
                          <a:latin typeface="Aptos"/>
                        </a:defRPr>
                      </a:pPr>
                      <a:r>
                        <a:t>OpenAI</a:t>
                      </a:r>
                    </a:p>
                  </a:txBody>
                  <a:tcPr marL="54864" marR="36576" marT="27432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 b="0">
                          <a:solidFill>
                            <a:srgbClr val="22303F"/>
                          </a:solidFill>
                          <a:latin typeface="Aptos"/>
                        </a:defRPr>
                      </a:pPr>
                      <a:r>
                        <a:t>~21B</a:t>
                      </a:r>
                    </a:p>
                  </a:txBody>
                  <a:tcPr marL="54864" marR="36576" marT="27432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 b="0">
                          <a:solidFill>
                            <a:srgbClr val="22303F"/>
                          </a:solidFill>
                          <a:latin typeface="Aptos"/>
                        </a:defRPr>
                      </a:pPr>
                      <a:r>
                        <a:t>~3.6B</a:t>
                      </a:r>
                    </a:p>
                  </a:txBody>
                  <a:tcPr marL="54864" marR="36576" marT="27432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 b="0">
                          <a:solidFill>
                            <a:srgbClr val="22303F"/>
                          </a:solidFill>
                          <a:latin typeface="Aptos"/>
                        </a:defRPr>
                      </a:pPr>
                      <a:r>
                        <a:t>MoE</a:t>
                      </a:r>
                    </a:p>
                  </a:txBody>
                  <a:tcPr marL="54864" marR="36576" marT="27432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 b="0">
                          <a:solidFill>
                            <a:srgbClr val="22303F"/>
                          </a:solidFill>
                          <a:latin typeface="Aptos"/>
                        </a:defRPr>
                      </a:pPr>
                      <a:r>
                        <a:t>128K</a:t>
                      </a:r>
                    </a:p>
                  </a:txBody>
                  <a:tcPr marL="54864" marR="36576" marT="27432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 b="0">
                          <a:solidFill>
                            <a:srgbClr val="22303F"/>
                          </a:solidFill>
                          <a:latin typeface="Aptos"/>
                        </a:defRPr>
                      </a:pPr>
                      <a:r>
                        <a:t>Text</a:t>
                      </a:r>
                    </a:p>
                  </a:txBody>
                  <a:tcPr marL="54864" marR="36576" marT="27432" marB="18288" anchor="ctr">
                    <a:solidFill>
                      <a:srgbClr val="F1F5F9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940" b="0">
                          <a:solidFill>
                            <a:srgbClr val="22303F"/>
                          </a:solidFill>
                          <a:latin typeface="Aptos"/>
                        </a:defRPr>
                      </a:pPr>
                      <a:r>
                        <a:t>Gemma 4 31B</a:t>
                      </a:r>
                    </a:p>
                  </a:txBody>
                  <a:tcPr marL="54864" marR="36576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 b="0">
                          <a:solidFill>
                            <a:srgbClr val="22303F"/>
                          </a:solidFill>
                          <a:latin typeface="Aptos"/>
                        </a:defRPr>
                      </a:pPr>
                      <a:r>
                        <a:t>Google DeepMind</a:t>
                      </a:r>
                    </a:p>
                  </a:txBody>
                  <a:tcPr marL="54864" marR="36576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 b="0">
                          <a:solidFill>
                            <a:srgbClr val="22303F"/>
                          </a:solidFill>
                          <a:latin typeface="Aptos"/>
                        </a:defRPr>
                      </a:pPr>
                      <a:r>
                        <a:t>30.7B</a:t>
                      </a:r>
                    </a:p>
                  </a:txBody>
                  <a:tcPr marL="54864" marR="36576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 b="0">
                          <a:solidFill>
                            <a:srgbClr val="22303F"/>
                          </a:solidFill>
                          <a:latin typeface="Aptos"/>
                        </a:defRPr>
                      </a:pPr>
                      <a:r>
                        <a:t>30.7B (dense)</a:t>
                      </a:r>
                    </a:p>
                  </a:txBody>
                  <a:tcPr marL="54864" marR="36576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 b="0">
                          <a:solidFill>
                            <a:srgbClr val="22303F"/>
                          </a:solidFill>
                          <a:latin typeface="Aptos"/>
                        </a:defRPr>
                      </a:pPr>
                      <a:r>
                        <a:t>Dense</a:t>
                      </a:r>
                    </a:p>
                  </a:txBody>
                  <a:tcPr marL="54864" marR="36576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 b="0">
                          <a:solidFill>
                            <a:srgbClr val="22303F"/>
                          </a:solidFill>
                          <a:latin typeface="Aptos"/>
                        </a:defRPr>
                      </a:pPr>
                      <a:r>
                        <a:t>256K</a:t>
                      </a:r>
                    </a:p>
                  </a:txBody>
                  <a:tcPr marL="54864" marR="36576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 b="0">
                          <a:solidFill>
                            <a:srgbClr val="22303F"/>
                          </a:solidFill>
                          <a:latin typeface="Aptos"/>
                        </a:defRPr>
                      </a:pPr>
                      <a:r>
                        <a:t>Text + image</a:t>
                      </a:r>
                    </a:p>
                  </a:txBody>
                  <a:tcPr marL="54864" marR="36576" marT="27432" marB="18288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940" b="0">
                          <a:solidFill>
                            <a:srgbClr val="22303F"/>
                          </a:solidFill>
                          <a:latin typeface="Aptos"/>
                        </a:defRPr>
                      </a:pPr>
                      <a:r>
                        <a:t>Gemma 4 26B A4B</a:t>
                      </a:r>
                    </a:p>
                  </a:txBody>
                  <a:tcPr marL="54864" marR="36576" marT="27432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 b="0">
                          <a:solidFill>
                            <a:srgbClr val="22303F"/>
                          </a:solidFill>
                          <a:latin typeface="Aptos"/>
                        </a:defRPr>
                      </a:pPr>
                      <a:r>
                        <a:t>Google DeepMind</a:t>
                      </a:r>
                    </a:p>
                  </a:txBody>
                  <a:tcPr marL="54864" marR="36576" marT="27432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 b="0">
                          <a:solidFill>
                            <a:srgbClr val="22303F"/>
                          </a:solidFill>
                          <a:latin typeface="Aptos"/>
                        </a:defRPr>
                      </a:pPr>
                      <a:r>
                        <a:t>25.2B</a:t>
                      </a:r>
                    </a:p>
                  </a:txBody>
                  <a:tcPr marL="54864" marR="36576" marT="27432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 b="0">
                          <a:solidFill>
                            <a:srgbClr val="22303F"/>
                          </a:solidFill>
                          <a:latin typeface="Aptos"/>
                        </a:defRPr>
                      </a:pPr>
                      <a:r>
                        <a:t>~3.8B</a:t>
                      </a:r>
                    </a:p>
                  </a:txBody>
                  <a:tcPr marL="54864" marR="36576" marT="27432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 b="0">
                          <a:solidFill>
                            <a:srgbClr val="22303F"/>
                          </a:solidFill>
                          <a:latin typeface="Aptos"/>
                        </a:defRPr>
                      </a:pPr>
                      <a:r>
                        <a:t>MoE</a:t>
                      </a:r>
                    </a:p>
                  </a:txBody>
                  <a:tcPr marL="54864" marR="36576" marT="27432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 b="0">
                          <a:solidFill>
                            <a:srgbClr val="22303F"/>
                          </a:solidFill>
                          <a:latin typeface="Aptos"/>
                        </a:defRPr>
                      </a:pPr>
                      <a:r>
                        <a:t>256K</a:t>
                      </a:r>
                    </a:p>
                  </a:txBody>
                  <a:tcPr marL="54864" marR="36576" marT="27432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 b="0">
                          <a:solidFill>
                            <a:srgbClr val="22303F"/>
                          </a:solidFill>
                          <a:latin typeface="Aptos"/>
                        </a:defRPr>
                      </a:pPr>
                      <a:r>
                        <a:t>Text + image</a:t>
                      </a:r>
                    </a:p>
                  </a:txBody>
                  <a:tcPr marL="54864" marR="36576" marT="27432" marB="18288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3730752"/>
            <a:ext cx="352044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3730752"/>
            <a:ext cx="64008" cy="1005840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3840480"/>
            <a:ext cx="32461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150" b="1" i="0">
                <a:solidFill>
                  <a:srgbClr val="102741"/>
                </a:solidFill>
                <a:latin typeface="Aptos"/>
              </a:defRPr>
            </a:pPr>
            <a:r>
              <a:t>MOE = MIXTURE OF EXPERTS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4151376"/>
            <a:ext cx="324612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050" b="0" i="0">
                <a:solidFill>
                  <a:srgbClr val="22303F"/>
                </a:solidFill>
                <a:latin typeface="Aptos"/>
              </a:defRPr>
            </a:pPr>
            <a:r>
              <a:t>The deck describes sparse activation for both gpt-oss models and Gemma 4 26B A4B.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3730752"/>
            <a:ext cx="352044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06240" y="3730752"/>
            <a:ext cx="64008" cy="1005840"/>
          </a:xfrm>
          <a:prstGeom prst="rect">
            <a:avLst/>
          </a:prstGeom>
          <a:solidFill>
            <a:srgbClr val="E2A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70831" y="3840480"/>
            <a:ext cx="32461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150" b="1" i="0">
                <a:solidFill>
                  <a:srgbClr val="102741"/>
                </a:solidFill>
                <a:latin typeface="Aptos"/>
              </a:defRPr>
            </a:pPr>
            <a:r>
              <a:t>LICENCE &amp; TEST 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0831" y="4151376"/>
            <a:ext cx="324612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019" b="0" i="0">
                <a:solidFill>
                  <a:srgbClr val="22303F"/>
                </a:solidFill>
                <a:latin typeface="Aptos"/>
              </a:defRPr>
            </a:pPr>
            <a:r>
              <a:t>All four are listed as Apache 2.0; gpt-oss was tested on Groq and Gemma 4 on AI Studio.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0" y="3730752"/>
            <a:ext cx="3749039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863840" y="3730752"/>
            <a:ext cx="64008" cy="1005840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28431" y="3840480"/>
            <a:ext cx="34747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150" b="1" i="0">
                <a:solidFill>
                  <a:srgbClr val="102741"/>
                </a:solidFill>
                <a:latin typeface="Aptos"/>
              </a:defRPr>
            </a:pPr>
            <a:r>
              <a:t>MODEL FACT SHEET — PARTIAL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4151376"/>
            <a:ext cx="347472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980" b="0" i="0">
                <a:solidFill>
                  <a:srgbClr val="22303F"/>
                </a:solidFill>
                <a:latin typeface="Aptos"/>
              </a:defRPr>
            </a:pPr>
            <a:r>
              <a:t>Model, developer, parameters, architecture, context, licence and platform are shown. Verify release date, intended uses, supported languages and model-card limitations.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983480"/>
            <a:ext cx="11064240" cy="1024128"/>
          </a:xfrm>
          <a:prstGeom prst="roundRect">
            <a:avLst>
              <a:gd name="adj" fmla="val 12000"/>
            </a:avLst>
          </a:prstGeom>
          <a:solidFill>
            <a:srgbClr val="FCF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5102352"/>
            <a:ext cx="106527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100" b="1" i="0">
                <a:solidFill>
                  <a:srgbClr val="102741"/>
                </a:solidFill>
                <a:latin typeface="Aptos"/>
              </a:defRPr>
            </a:pPr>
            <a:r>
              <a:t>VERIFICATION NOTE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5394960"/>
            <a:ext cx="1065276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000" b="0" i="0">
                <a:solidFill>
                  <a:srgbClr val="22303F"/>
                </a:solidFill>
                <a:latin typeface="Aptos"/>
              </a:defRPr>
            </a:pPr>
            <a:r>
              <a:t>Before presenting or deploying, verify model-card facts and licence terms against official sources. Missing release dates, intended uses, supported languages and limitations are not confirmed in the supplied deck and should not be guessed.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900" b="1" i="0">
                <a:solidFill>
                  <a:srgbClr val="008991"/>
                </a:solidFill>
                <a:latin typeface="Aptos"/>
              </a:defRPr>
            </a:pPr>
            <a:r>
              <a:t>03 /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21207"/>
            <a:ext cx="111556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2400" b="1" i="0">
                <a:solidFill>
                  <a:srgbClr val="102741"/>
                </a:solidFill>
                <a:latin typeface="Aptos"/>
              </a:defRPr>
            </a:pPr>
            <a:r>
              <a:t>Gemma 4 31B leads by eight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110642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050" b="0" i="0">
                <a:solidFill>
                  <a:srgbClr val="5B6C7C"/>
                </a:solidFill>
                <a:latin typeface="Aptos"/>
              </a:defRPr>
            </a:pPr>
            <a:r>
              <a:t>Scores rescaled to the 1–3–5 rubric; percentages are calculated against 600.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1155680" cy="22860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8229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800" b="0" i="0">
                <a:solidFill>
                  <a:srgbClr val="5B6C7C"/>
                </a:solidFill>
                <a:latin typeface="Aptos"/>
              </a:defRPr>
            </a:pPr>
            <a:r>
              <a:t>HACKTOBERFEST HACK DAY  •  OPEN MODEL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5486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200"/>
              </a:spcAft>
              <a:defRPr sz="800" b="1" i="0">
                <a:solidFill>
                  <a:srgbClr val="008991"/>
                </a:solidFill>
                <a:latin typeface="Aptos"/>
              </a:defRPr>
            </a:pPr>
            <a:r>
              <a:t>04 / 08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572768"/>
          <a:ext cx="3931920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1051560"/>
                <a:gridCol w="822960"/>
              </a:tblGrid>
              <a:tr h="374903">
                <a:tc>
                  <a:txBody>
                    <a:bodyPr/>
                    <a:lstStyle/>
                    <a:p>
                      <a:pPr>
                        <a:defRPr sz="9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Model</a:t>
                      </a:r>
                    </a:p>
                  </a:txBody>
                  <a:tcPr marL="54864" marR="36576" marT="27432" marB="18288" anchor="ctr">
                    <a:solidFill>
                      <a:srgbClr val="1027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Score</a:t>
                      </a:r>
                    </a:p>
                  </a:txBody>
                  <a:tcPr marL="54864" marR="36576" marT="27432" marB="18288" anchor="ctr">
                    <a:solidFill>
                      <a:srgbClr val="1027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Percentage</a:t>
                      </a:r>
                    </a:p>
                  </a:txBody>
                  <a:tcPr marL="54864" marR="36576" marT="27432" marB="18288" anchor="ctr">
                    <a:solidFill>
                      <a:srgbClr val="102741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303F"/>
                          </a:solidFill>
                          <a:latin typeface="Aptos"/>
                        </a:defRPr>
                      </a:pPr>
                      <a:r>
                        <a:t>Gemma 4 31B</a:t>
                      </a:r>
                    </a:p>
                  </a:txBody>
                  <a:tcPr marL="54864" marR="36576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303F"/>
                          </a:solidFill>
                          <a:latin typeface="Aptos"/>
                        </a:defRPr>
                      </a:pPr>
                      <a:r>
                        <a:t>582 / 600</a:t>
                      </a:r>
                    </a:p>
                  </a:txBody>
                  <a:tcPr marL="54864" marR="36576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303F"/>
                          </a:solidFill>
                          <a:latin typeface="Aptos"/>
                        </a:defRPr>
                      </a:pPr>
                      <a:r>
                        <a:t>97.00%</a:t>
                      </a:r>
                    </a:p>
                  </a:txBody>
                  <a:tcPr marL="54864" marR="36576" marT="27432" marB="18288"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303F"/>
                          </a:solidFill>
                          <a:latin typeface="Aptos"/>
                        </a:defRPr>
                      </a:pPr>
                      <a:r>
                        <a:t>gpt-oss-120b</a:t>
                      </a:r>
                    </a:p>
                  </a:txBody>
                  <a:tcPr marL="54864" marR="36576" marT="27432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303F"/>
                          </a:solidFill>
                          <a:latin typeface="Aptos"/>
                        </a:defRPr>
                      </a:pPr>
                      <a:r>
                        <a:t>574 / 600</a:t>
                      </a:r>
                    </a:p>
                  </a:txBody>
                  <a:tcPr marL="54864" marR="36576" marT="27432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303F"/>
                          </a:solidFill>
                          <a:latin typeface="Aptos"/>
                        </a:defRPr>
                      </a:pPr>
                      <a:r>
                        <a:t>95.67%</a:t>
                      </a:r>
                    </a:p>
                  </a:txBody>
                  <a:tcPr marL="54864" marR="36576" marT="27432" marB="18288" anchor="ctr">
                    <a:solidFill>
                      <a:srgbClr val="F1F5F9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303F"/>
                          </a:solidFill>
                          <a:latin typeface="Aptos"/>
                        </a:defRPr>
                      </a:pPr>
                      <a:r>
                        <a:t>Gemma 4 26B A4B</a:t>
                      </a:r>
                    </a:p>
                  </a:txBody>
                  <a:tcPr marL="54864" marR="36576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303F"/>
                          </a:solidFill>
                          <a:latin typeface="Aptos"/>
                        </a:defRPr>
                      </a:pPr>
                      <a:r>
                        <a:t>546 / 600</a:t>
                      </a:r>
                    </a:p>
                  </a:txBody>
                  <a:tcPr marL="54864" marR="36576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303F"/>
                          </a:solidFill>
                          <a:latin typeface="Aptos"/>
                        </a:defRPr>
                      </a:pPr>
                      <a:r>
                        <a:t>91.00%</a:t>
                      </a:r>
                    </a:p>
                  </a:txBody>
                  <a:tcPr marL="54864" marR="36576" marT="27432" marB="18288" anchor="ctr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303F"/>
                          </a:solidFill>
                          <a:latin typeface="Aptos"/>
                        </a:defRPr>
                      </a:pPr>
                      <a:r>
                        <a:t>gpt-oss-20b</a:t>
                      </a:r>
                    </a:p>
                  </a:txBody>
                  <a:tcPr marL="54864" marR="36576" marT="27432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303F"/>
                          </a:solidFill>
                          <a:latin typeface="Aptos"/>
                        </a:defRPr>
                      </a:pPr>
                      <a:r>
                        <a:t>544 / 600</a:t>
                      </a:r>
                    </a:p>
                  </a:txBody>
                  <a:tcPr marL="54864" marR="36576" marT="27432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303F"/>
                          </a:solidFill>
                          <a:latin typeface="Aptos"/>
                        </a:defRPr>
                      </a:pPr>
                      <a:r>
                        <a:t>90.67%</a:t>
                      </a:r>
                    </a:p>
                  </a:txBody>
                  <a:tcPr marL="54864" marR="36576" marT="27432" marB="18288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709160" y="1572768"/>
            <a:ext cx="3246120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09160" y="1572768"/>
            <a:ext cx="64008" cy="1874519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73752" y="1682495"/>
            <a:ext cx="2971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300" b="1" i="0">
                <a:solidFill>
                  <a:srgbClr val="102741"/>
                </a:solidFill>
                <a:latin typeface="Aptos"/>
              </a:defRPr>
            </a:pPr>
            <a:r>
              <a:t>TOP TWO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73752" y="1993392"/>
            <a:ext cx="2971800" cy="139903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200" b="0" i="0">
                <a:solidFill>
                  <a:srgbClr val="22303F"/>
                </a:solidFill>
                <a:latin typeface="Aptos"/>
              </a:defRPr>
            </a:pPr>
            <a:r>
              <a:t>582 vs 574: an eight-point lead on the 1–3–5 scale. The gap equals only 1.33 percentage points.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572768"/>
            <a:ext cx="3474720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572768"/>
            <a:ext cx="64008" cy="1874519"/>
          </a:xfrm>
          <a:prstGeom prst="rect">
            <a:avLst/>
          </a:prstGeom>
          <a:solidFill>
            <a:srgbClr val="E2A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1682495"/>
            <a:ext cx="3200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200" b="1" i="0">
                <a:solidFill>
                  <a:srgbClr val="102741"/>
                </a:solidFill>
                <a:latin typeface="Aptos"/>
              </a:defRPr>
            </a:pPr>
            <a:r>
              <a:t>DATA NOTE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1993392"/>
            <a:ext cx="3200400" cy="139903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080" b="0" i="0">
                <a:solidFill>
                  <a:srgbClr val="22303F"/>
                </a:solidFill>
                <a:latin typeface="Aptos"/>
              </a:defRPr>
            </a:pPr>
            <a:r>
              <a:t>Showdown PDF reports Gemma 4 26B A4B as 214/240; category totals and evaluation deck sum to 213/240 (546/600 after rescaling).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685032"/>
            <a:ext cx="1097280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200" b="1" i="0">
                <a:solidFill>
                  <a:srgbClr val="102741"/>
                </a:solidFill>
                <a:latin typeface="Aptos"/>
              </a:defRPr>
            </a:pPr>
            <a:r>
              <a:t>CATEGORY SCORES • OUT OF 100 ON THE 1–3–5 SCALE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48640" y="4005072"/>
          <a:ext cx="11064239" cy="1444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1234440"/>
                <a:gridCol w="1417320"/>
                <a:gridCol w="1691640"/>
                <a:gridCol w="960120"/>
                <a:gridCol w="1600200"/>
                <a:gridCol w="2286000"/>
              </a:tblGrid>
              <a:tr h="28895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Model</a:t>
                      </a:r>
                    </a:p>
                  </a:txBody>
                  <a:tcPr marL="54864" marR="36576" marT="27432" marB="18288" anchor="ctr">
                    <a:solidFill>
                      <a:srgbClr val="1027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Reasoning</a:t>
                      </a:r>
                    </a:p>
                  </a:txBody>
                  <a:tcPr marL="54864" marR="36576" marT="27432" marB="18288" anchor="ctr">
                    <a:solidFill>
                      <a:srgbClr val="1027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Factual accuracy</a:t>
                      </a:r>
                    </a:p>
                  </a:txBody>
                  <a:tcPr marL="54864" marR="36576" marT="27432" marB="18288" anchor="ctr">
                    <a:solidFill>
                      <a:srgbClr val="1027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Instruction following</a:t>
                      </a:r>
                    </a:p>
                  </a:txBody>
                  <a:tcPr marL="54864" marR="36576" marT="27432" marB="18288" anchor="ctr">
                    <a:solidFill>
                      <a:srgbClr val="1027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Coding</a:t>
                      </a:r>
                    </a:p>
                  </a:txBody>
                  <a:tcPr marL="54864" marR="36576" marT="27432" marB="18288" anchor="ctr">
                    <a:solidFill>
                      <a:srgbClr val="1027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Indian languages</a:t>
                      </a:r>
                    </a:p>
                  </a:txBody>
                  <a:tcPr marL="54864" marR="36576" marT="27432" marB="18288" anchor="ctr">
                    <a:solidFill>
                      <a:srgbClr val="1027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Summarisation</a:t>
                      </a:r>
                    </a:p>
                  </a:txBody>
                  <a:tcPr marL="54864" marR="36576" marT="27432" marB="18288" anchor="ctr">
                    <a:solidFill>
                      <a:srgbClr val="102741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22303F"/>
                          </a:solidFill>
                          <a:latin typeface="Aptos"/>
                        </a:defRPr>
                      </a:pPr>
                      <a:r>
                        <a:t>Gemma 4 31B</a:t>
                      </a:r>
                    </a:p>
                  </a:txBody>
                  <a:tcPr marL="54864" marR="36576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22303F"/>
                          </a:solidFill>
                          <a:latin typeface="Aptos"/>
                        </a:defRPr>
                      </a:pPr>
                      <a:r>
                        <a:t>96</a:t>
                      </a:r>
                    </a:p>
                  </a:txBody>
                  <a:tcPr marL="54864" marR="36576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22303F"/>
                          </a:solidFill>
                          <a:latin typeface="Aptos"/>
                        </a:defRPr>
                      </a:pPr>
                      <a:r>
                        <a:t>92</a:t>
                      </a:r>
                    </a:p>
                  </a:txBody>
                  <a:tcPr marL="54864" marR="36576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22303F"/>
                          </a:solidFill>
                          <a:latin typeface="Aptos"/>
                        </a:defRPr>
                      </a:pPr>
                      <a:r>
                        <a:t>100</a:t>
                      </a:r>
                    </a:p>
                  </a:txBody>
                  <a:tcPr marL="54864" marR="36576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22303F"/>
                          </a:solidFill>
                          <a:latin typeface="Aptos"/>
                        </a:defRPr>
                      </a:pPr>
                      <a:r>
                        <a:t>100</a:t>
                      </a:r>
                    </a:p>
                  </a:txBody>
                  <a:tcPr marL="54864" marR="36576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22303F"/>
                          </a:solidFill>
                          <a:latin typeface="Aptos"/>
                        </a:defRPr>
                      </a:pPr>
                      <a:r>
                        <a:t>98</a:t>
                      </a:r>
                    </a:p>
                  </a:txBody>
                  <a:tcPr marL="54864" marR="36576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22303F"/>
                          </a:solidFill>
                          <a:latin typeface="Aptos"/>
                        </a:defRPr>
                      </a:pPr>
                      <a:r>
                        <a:t>96</a:t>
                      </a:r>
                    </a:p>
                  </a:txBody>
                  <a:tcPr marL="54864" marR="36576" marT="27432" marB="18288" anchor="ctr">
                    <a:solidFill>
                      <a:srgbClr val="FFFFFF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22303F"/>
                          </a:solidFill>
                          <a:latin typeface="Aptos"/>
                        </a:defRPr>
                      </a:pPr>
                      <a:r>
                        <a:t>gpt-oss-120b</a:t>
                      </a:r>
                    </a:p>
                  </a:txBody>
                  <a:tcPr marL="54864" marR="36576" marT="27432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22303F"/>
                          </a:solidFill>
                          <a:latin typeface="Aptos"/>
                        </a:defRPr>
                      </a:pPr>
                      <a:r>
                        <a:t>98</a:t>
                      </a:r>
                    </a:p>
                  </a:txBody>
                  <a:tcPr marL="54864" marR="36576" marT="27432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22303F"/>
                          </a:solidFill>
                          <a:latin typeface="Aptos"/>
                        </a:defRPr>
                      </a:pPr>
                      <a:r>
                        <a:t>100</a:t>
                      </a:r>
                    </a:p>
                  </a:txBody>
                  <a:tcPr marL="54864" marR="36576" marT="27432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22303F"/>
                          </a:solidFill>
                          <a:latin typeface="Aptos"/>
                        </a:defRPr>
                      </a:pPr>
                      <a:r>
                        <a:t>80</a:t>
                      </a:r>
                    </a:p>
                  </a:txBody>
                  <a:tcPr marL="54864" marR="36576" marT="27432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22303F"/>
                          </a:solidFill>
                          <a:latin typeface="Aptos"/>
                        </a:defRPr>
                      </a:pPr>
                      <a:r>
                        <a:t>100</a:t>
                      </a:r>
                    </a:p>
                  </a:txBody>
                  <a:tcPr marL="54864" marR="36576" marT="27432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22303F"/>
                          </a:solidFill>
                          <a:latin typeface="Aptos"/>
                        </a:defRPr>
                      </a:pPr>
                      <a:r>
                        <a:t>98</a:t>
                      </a:r>
                    </a:p>
                  </a:txBody>
                  <a:tcPr marL="54864" marR="36576" marT="27432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22303F"/>
                          </a:solidFill>
                          <a:latin typeface="Aptos"/>
                        </a:defRPr>
                      </a:pPr>
                      <a:r>
                        <a:t>98</a:t>
                      </a:r>
                    </a:p>
                  </a:txBody>
                  <a:tcPr marL="54864" marR="36576" marT="27432" marB="18288" anchor="ctr">
                    <a:solidFill>
                      <a:srgbClr val="F1F5F9"/>
                    </a:solidFill>
                  </a:tcPr>
                </a:tc>
              </a:tr>
              <a:tr h="288950"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22303F"/>
                          </a:solidFill>
                          <a:latin typeface="Aptos"/>
                        </a:defRPr>
                      </a:pPr>
                      <a:r>
                        <a:t>Gemma 4 26B A4B</a:t>
                      </a:r>
                    </a:p>
                  </a:txBody>
                  <a:tcPr marL="54864" marR="36576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22303F"/>
                          </a:solidFill>
                          <a:latin typeface="Aptos"/>
                        </a:defRPr>
                      </a:pPr>
                      <a:r>
                        <a:t>88</a:t>
                      </a:r>
                    </a:p>
                  </a:txBody>
                  <a:tcPr marL="54864" marR="36576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22303F"/>
                          </a:solidFill>
                          <a:latin typeface="Aptos"/>
                        </a:defRPr>
                      </a:pPr>
                      <a:r>
                        <a:t>86</a:t>
                      </a:r>
                    </a:p>
                  </a:txBody>
                  <a:tcPr marL="54864" marR="36576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22303F"/>
                          </a:solidFill>
                          <a:latin typeface="Aptos"/>
                        </a:defRPr>
                      </a:pPr>
                      <a:r>
                        <a:t>94</a:t>
                      </a:r>
                    </a:p>
                  </a:txBody>
                  <a:tcPr marL="54864" marR="36576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22303F"/>
                          </a:solidFill>
                          <a:latin typeface="Aptos"/>
                        </a:defRPr>
                      </a:pPr>
                      <a:r>
                        <a:t>86</a:t>
                      </a:r>
                    </a:p>
                  </a:txBody>
                  <a:tcPr marL="54864" marR="36576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22303F"/>
                          </a:solidFill>
                          <a:latin typeface="Aptos"/>
                        </a:defRPr>
                      </a:pPr>
                      <a:r>
                        <a:t>96</a:t>
                      </a:r>
                    </a:p>
                  </a:txBody>
                  <a:tcPr marL="54864" marR="36576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22303F"/>
                          </a:solidFill>
                          <a:latin typeface="Aptos"/>
                        </a:defRPr>
                      </a:pPr>
                      <a:r>
                        <a:t>96</a:t>
                      </a:r>
                    </a:p>
                  </a:txBody>
                  <a:tcPr marL="54864" marR="36576" marT="27432" marB="18288" anchor="ctr">
                    <a:solidFill>
                      <a:srgbClr val="FFFFFF"/>
                    </a:solidFill>
                  </a:tcPr>
                </a:tc>
              </a:tr>
              <a:tr h="288952"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22303F"/>
                          </a:solidFill>
                          <a:latin typeface="Aptos"/>
                        </a:defRPr>
                      </a:pPr>
                      <a:r>
                        <a:t>gpt-oss-20b</a:t>
                      </a:r>
                    </a:p>
                  </a:txBody>
                  <a:tcPr marL="54864" marR="36576" marT="27432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22303F"/>
                          </a:solidFill>
                          <a:latin typeface="Aptos"/>
                        </a:defRPr>
                      </a:pPr>
                      <a:r>
                        <a:t>86</a:t>
                      </a:r>
                    </a:p>
                  </a:txBody>
                  <a:tcPr marL="54864" marR="36576" marT="27432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22303F"/>
                          </a:solidFill>
                          <a:latin typeface="Aptos"/>
                        </a:defRPr>
                      </a:pPr>
                      <a:r>
                        <a:t>78</a:t>
                      </a:r>
                    </a:p>
                  </a:txBody>
                  <a:tcPr marL="54864" marR="36576" marT="27432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22303F"/>
                          </a:solidFill>
                          <a:latin typeface="Aptos"/>
                        </a:defRPr>
                      </a:pPr>
                      <a:r>
                        <a:t>84</a:t>
                      </a:r>
                    </a:p>
                  </a:txBody>
                  <a:tcPr marL="54864" marR="36576" marT="27432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22303F"/>
                          </a:solidFill>
                          <a:latin typeface="Aptos"/>
                        </a:defRPr>
                      </a:pPr>
                      <a:r>
                        <a:t>100</a:t>
                      </a:r>
                    </a:p>
                  </a:txBody>
                  <a:tcPr marL="54864" marR="36576" marT="27432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22303F"/>
                          </a:solidFill>
                          <a:latin typeface="Aptos"/>
                        </a:defRPr>
                      </a:pPr>
                      <a:r>
                        <a:t>98</a:t>
                      </a:r>
                    </a:p>
                  </a:txBody>
                  <a:tcPr marL="54864" marR="36576" marT="27432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22303F"/>
                          </a:solidFill>
                          <a:latin typeface="Aptos"/>
                        </a:defRPr>
                      </a:pPr>
                      <a:r>
                        <a:t>98</a:t>
                      </a:r>
                    </a:p>
                  </a:txBody>
                  <a:tcPr marL="54864" marR="36576" marT="27432" marB="18288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548640" y="5623560"/>
            <a:ext cx="3520440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5678424"/>
            <a:ext cx="8686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850" b="1" i="0">
                <a:solidFill>
                  <a:srgbClr val="008991"/>
                </a:solidFill>
                <a:latin typeface="Aptos"/>
              </a:defRPr>
            </a:pPr>
            <a:r>
              <a:t>FACTS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2768" y="5669280"/>
            <a:ext cx="235915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900" b="1" i="0">
                <a:solidFill>
                  <a:srgbClr val="102741"/>
                </a:solidFill>
                <a:latin typeface="Aptos"/>
              </a:defRPr>
            </a:pPr>
            <a:r>
              <a:t>gpt-oss-120b: 100/100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79392" y="5623560"/>
            <a:ext cx="3520440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0" y="5678424"/>
            <a:ext cx="8686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850" b="1" i="0">
                <a:solidFill>
                  <a:srgbClr val="E2A437"/>
                </a:solidFill>
                <a:latin typeface="Aptos"/>
              </a:defRPr>
            </a:pPr>
            <a:r>
              <a:t>INSTRUCTIONS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5669280"/>
            <a:ext cx="235915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900" b="1" i="0">
                <a:solidFill>
                  <a:srgbClr val="102741"/>
                </a:solidFill>
                <a:latin typeface="Aptos"/>
              </a:defRPr>
            </a:pPr>
            <a:r>
              <a:t>Gemma 4 31B: 100/100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10144" y="5623560"/>
            <a:ext cx="3520440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19871" y="5678424"/>
            <a:ext cx="8686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850" b="1" i="0">
                <a:solidFill>
                  <a:srgbClr val="008991"/>
                </a:solidFill>
                <a:latin typeface="Aptos"/>
              </a:defRPr>
            </a:pPr>
            <a:r>
              <a:t>CODING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34272" y="5669280"/>
            <a:ext cx="235915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900" b="1" i="0">
                <a:solidFill>
                  <a:srgbClr val="102741"/>
                </a:solidFill>
                <a:latin typeface="Aptos"/>
              </a:defRPr>
            </a:pPr>
            <a:r>
              <a:t>Three models tie at 100/100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794760" y="6153912"/>
            <a:ext cx="4617720" cy="292608"/>
          </a:xfrm>
          <a:prstGeom prst="roundRect">
            <a:avLst>
              <a:gd name="adj" fmla="val 12000"/>
            </a:avLst>
          </a:prstGeom>
          <a:solidFill>
            <a:srgbClr val="126F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9144" bIns="9144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  <a:hlinkClick r:id="rId2"/>
              </a:rPr>
              <a:t>OPEN FULL MODEL TEST RESULTS  ↗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900" b="1" i="0">
                <a:solidFill>
                  <a:srgbClr val="008991"/>
                </a:solidFill>
                <a:latin typeface="Aptos"/>
              </a:defRPr>
            </a:pPr>
            <a:r>
              <a:t>04 / MODEL PROFILES + FAILURE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21207"/>
            <a:ext cx="111556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2400" b="1" i="0">
                <a:solidFill>
                  <a:srgbClr val="102741"/>
                </a:solidFill>
                <a:latin typeface="Aptos"/>
              </a:defRPr>
            </a:pPr>
            <a:r>
              <a:t>Strengths are workload-specific; failures show what to validate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110642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050" b="0" i="0">
                <a:solidFill>
                  <a:srgbClr val="5B6C7C"/>
                </a:solidFill>
                <a:latin typeface="Aptos"/>
              </a:defRPr>
            </a:pPr>
            <a:r>
              <a:t>These profiles summarize the supplied test, not a general guarantee of real-world performance.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1155680" cy="22860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8229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800" b="0" i="0">
                <a:solidFill>
                  <a:srgbClr val="5B6C7C"/>
                </a:solidFill>
                <a:latin typeface="Aptos"/>
              </a:defRPr>
            </a:pPr>
            <a:r>
              <a:t>HACKTOBERFEST HACK DAY  •  OPEN MODEL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5486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200"/>
              </a:spcAft>
              <a:defRPr sz="800" b="1" i="0">
                <a:solidFill>
                  <a:srgbClr val="008991"/>
                </a:solidFill>
                <a:latin typeface="Aptos"/>
              </a:defRPr>
            </a:pPr>
            <a:r>
              <a:t>05 / 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72768"/>
            <a:ext cx="5394960" cy="9875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572768"/>
            <a:ext cx="64008" cy="987552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682495"/>
            <a:ext cx="5120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070" b="1" i="0">
                <a:solidFill>
                  <a:srgbClr val="102741"/>
                </a:solidFill>
                <a:latin typeface="Aptos"/>
              </a:defRPr>
            </a:pPr>
            <a:r>
              <a:t>GEMMA 4 31B  |  582/600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993392"/>
            <a:ext cx="512064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940" b="0" i="0">
                <a:solidFill>
                  <a:srgbClr val="22303F"/>
                </a:solidFill>
                <a:latin typeface="Aptos"/>
              </a:defRPr>
            </a:pPr>
            <a:r>
              <a:t>Best overall; perfect instruction-following and coding scores. Watch-outs: missed the Nobel prompt instructions (12/20) and only partly solved the number sequence.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79" y="1572768"/>
            <a:ext cx="5394960" cy="9875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79" y="1572768"/>
            <a:ext cx="64008" cy="987552"/>
          </a:xfrm>
          <a:prstGeom prst="rect">
            <a:avLst/>
          </a:prstGeom>
          <a:solidFill>
            <a:srgbClr val="E2A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91071" y="1682495"/>
            <a:ext cx="5120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070" b="1" i="0">
                <a:solidFill>
                  <a:srgbClr val="102741"/>
                </a:solidFill>
                <a:latin typeface="Aptos"/>
              </a:defRPr>
            </a:pPr>
            <a:r>
              <a:t>GPT-OSS-120B  |  574/600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1071" y="1993392"/>
            <a:ext cx="512064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940" b="0" i="0">
                <a:solidFill>
                  <a:srgbClr val="22303F"/>
                </a:solidFill>
                <a:latin typeface="Aptos"/>
              </a:defRPr>
            </a:pPr>
            <a:r>
              <a:t>Best factual accuracy (100/100), perfect coding (100/100), strong reasoning. Main weakness: instruction following at 80/100, especially exact word-count tasks.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688336"/>
            <a:ext cx="5394960" cy="9875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2688336"/>
            <a:ext cx="64008" cy="987552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2798064"/>
            <a:ext cx="5120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070" b="1" i="0">
                <a:solidFill>
                  <a:srgbClr val="102741"/>
                </a:solidFill>
                <a:latin typeface="Aptos"/>
              </a:defRPr>
            </a:pPr>
            <a:r>
              <a:t>GEMMA 4 26B A4B  |  546/600*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108960"/>
            <a:ext cx="512064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940" b="0" i="0">
                <a:solidFill>
                  <a:srgbClr val="22303F"/>
                </a:solidFill>
                <a:latin typeface="Aptos"/>
              </a:defRPr>
            </a:pPr>
            <a:r>
              <a:t>Compact MoE design with 3.8B active parameters; 96/100 summaries and 94/100 instruction following. Coding (86/100) and factual accuracy (86/100) need review.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79" y="2688336"/>
            <a:ext cx="5394960" cy="9875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79" y="2688336"/>
            <a:ext cx="64008" cy="987552"/>
          </a:xfrm>
          <a:prstGeom prst="rect">
            <a:avLst/>
          </a:prstGeom>
          <a:solidFill>
            <a:srgbClr val="E2A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91071" y="2798064"/>
            <a:ext cx="5120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070" b="1" i="0">
                <a:solidFill>
                  <a:srgbClr val="102741"/>
                </a:solidFill>
                <a:latin typeface="Aptos"/>
              </a:defRPr>
            </a:pPr>
            <a:r>
              <a:t>GPT-OSS-20B  |  544/600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91071" y="3108960"/>
            <a:ext cx="512064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940" b="0" i="0">
                <a:solidFill>
                  <a:srgbClr val="22303F"/>
                </a:solidFill>
                <a:latin typeface="Aptos"/>
              </a:defRPr>
            </a:pPr>
            <a:r>
              <a:t>Strong coding (100/100), Indian languages (98/100) and summaries (98/100). Weakest factual score (78/100); weather-vs-climate answer was unclear and confidently wrong.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3886200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200" b="1" i="0">
                <a:solidFill>
                  <a:srgbClr val="102741"/>
                </a:solidFill>
                <a:latin typeface="Aptos"/>
              </a:defRPr>
            </a:pPr>
            <a:r>
              <a:t>FAILURE EXAMPLES FROM THE PROMPT SCORECARDS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548640" y="4224528"/>
          <a:ext cx="1106424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/>
                <a:gridCol w="3657600"/>
                <a:gridCol w="4434840"/>
              </a:tblGrid>
              <a:tr h="241662">
                <a:tc>
                  <a:txBody>
                    <a:bodyPr/>
                    <a:lstStyle/>
                    <a:p>
                      <a:pPr>
                        <a:defRPr sz="8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Prompt / case</a:t>
                      </a:r>
                    </a:p>
                  </a:txBody>
                  <a:tcPr marL="54864" marR="36576" marT="27432" marB="18288" anchor="ctr">
                    <a:solidFill>
                      <a:srgbClr val="1027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Observed result</a:t>
                      </a:r>
                    </a:p>
                  </a:txBody>
                  <a:tcPr marL="54864" marR="36576" marT="27432" marB="18288" anchor="ctr">
                    <a:solidFill>
                      <a:srgbClr val="1027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What it exposed</a:t>
                      </a:r>
                    </a:p>
                  </a:txBody>
                  <a:tcPr marL="54864" marR="36576" marT="27432" marB="18288" anchor="ctr">
                    <a:solidFill>
                      <a:srgbClr val="102741"/>
                    </a:solidFill>
                  </a:tcPr>
                </a:tc>
              </a:tr>
              <a:tr h="241662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22303F"/>
                          </a:solidFill>
                          <a:latin typeface="Aptos"/>
                        </a:defRPr>
                      </a:pPr>
                      <a:r>
                        <a:t>Nobel economics claim</a:t>
                      </a:r>
                    </a:p>
                  </a:txBody>
                  <a:tcPr marL="54864" marR="36576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22303F"/>
                          </a:solidFill>
                          <a:latin typeface="Aptos"/>
                        </a:defRPr>
                      </a:pPr>
                      <a:r>
                        <a:t>Gemma 4 31B: 12/20 • Gemma 4 26B A4B: 12/20</a:t>
                      </a:r>
                    </a:p>
                  </a:txBody>
                  <a:tcPr marL="54864" marR="36576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22303F"/>
                          </a:solidFill>
                          <a:latin typeface="Aptos"/>
                        </a:defRPr>
                      </a:pPr>
                      <a:r>
                        <a:t>Instruction handling / fact-check discipline</a:t>
                      </a:r>
                    </a:p>
                  </a:txBody>
                  <a:tcPr marL="54864" marR="36576" marT="27432" marB="18288" anchor="ctr">
                    <a:solidFill>
                      <a:srgbClr val="FFFFFF"/>
                    </a:solidFill>
                  </a:tcPr>
                </a:tc>
              </a:tr>
              <a:tr h="241662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22303F"/>
                          </a:solidFill>
                          <a:latin typeface="Aptos"/>
                        </a:defRPr>
                      </a:pPr>
                      <a:r>
                        <a:t>Weather vs climate</a:t>
                      </a:r>
                    </a:p>
                  </a:txBody>
                  <a:tcPr marL="54864" marR="36576" marT="27432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22303F"/>
                          </a:solidFill>
                          <a:latin typeface="Aptos"/>
                        </a:defRPr>
                      </a:pPr>
                      <a:r>
                        <a:t>gpt-oss-20b: 10/20 • Gemma 4 26B A4B: 16/20</a:t>
                      </a:r>
                    </a:p>
                  </a:txBody>
                  <a:tcPr marL="54864" marR="36576" marT="27432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22303F"/>
                          </a:solidFill>
                          <a:latin typeface="Aptos"/>
                        </a:defRPr>
                      </a:pPr>
                      <a:r>
                        <a:t>Clarity and confident misinformation risk</a:t>
                      </a:r>
                    </a:p>
                  </a:txBody>
                  <a:tcPr marL="54864" marR="36576" marT="27432" marB="18288" anchor="ctr">
                    <a:solidFill>
                      <a:srgbClr val="F1F5F9"/>
                    </a:solidFill>
                  </a:tcPr>
                </a:tc>
              </a:tr>
              <a:tr h="241662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22303F"/>
                          </a:solidFill>
                          <a:latin typeface="Aptos"/>
                        </a:defRPr>
                      </a:pPr>
                      <a:r>
                        <a:t>AI in exactly 40 words</a:t>
                      </a:r>
                    </a:p>
                  </a:txBody>
                  <a:tcPr marL="54864" marR="36576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22303F"/>
                          </a:solidFill>
                          <a:latin typeface="Aptos"/>
                        </a:defRPr>
                      </a:pPr>
                      <a:r>
                        <a:t>Both gpt-oss models: 12/20</a:t>
                      </a:r>
                    </a:p>
                  </a:txBody>
                  <a:tcPr marL="54864" marR="36576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22303F"/>
                          </a:solidFill>
                          <a:latin typeface="Aptos"/>
                        </a:defRPr>
                      </a:pPr>
                      <a:r>
                        <a:t>Exact length constraints are brittle</a:t>
                      </a:r>
                    </a:p>
                  </a:txBody>
                  <a:tcPr marL="54864" marR="36576" marT="27432" marB="18288" anchor="ctr">
                    <a:solidFill>
                      <a:srgbClr val="FFFFFF"/>
                    </a:solidFill>
                  </a:tcPr>
                </a:tc>
              </a:tr>
              <a:tr h="241662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22303F"/>
                          </a:solidFill>
                          <a:latin typeface="Aptos"/>
                        </a:defRPr>
                      </a:pPr>
                      <a:r>
                        <a:t>Number sequence: 2, 6, 12, 20, 30</a:t>
                      </a:r>
                    </a:p>
                  </a:txBody>
                  <a:tcPr marL="54864" marR="36576" marT="27432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22303F"/>
                          </a:solidFill>
                          <a:latin typeface="Aptos"/>
                        </a:defRPr>
                      </a:pPr>
                      <a:r>
                        <a:t>Gemma 4 26B A4B: 14/20; others mostly 18/20</a:t>
                      </a:r>
                    </a:p>
                  </a:txBody>
                  <a:tcPr marL="54864" marR="36576" marT="27432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22303F"/>
                          </a:solidFill>
                          <a:latin typeface="Aptos"/>
                        </a:defRPr>
                      </a:pPr>
                      <a:r>
                        <a:t>Reasoning explanation partly correct</a:t>
                      </a:r>
                    </a:p>
                  </a:txBody>
                  <a:tcPr marL="54864" marR="36576" marT="27432" marB="18288" anchor="ctr">
                    <a:solidFill>
                      <a:srgbClr val="F1F5F9"/>
                    </a:solidFill>
                  </a:tcPr>
                </a:tc>
              </a:tr>
              <a:tr h="241662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22303F"/>
                          </a:solidFill>
                          <a:latin typeface="Aptos"/>
                        </a:defRPr>
                      </a:pPr>
                      <a:r>
                        <a:t>Five ways to save electricity</a:t>
                      </a:r>
                    </a:p>
                  </a:txBody>
                  <a:tcPr marL="54864" marR="36576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22303F"/>
                          </a:solidFill>
                          <a:latin typeface="Aptos"/>
                        </a:defRPr>
                      </a:pPr>
                      <a:r>
                        <a:t>gpt-oss-20b: 14/20; gpt-oss-120b: 16/20</a:t>
                      </a:r>
                    </a:p>
                  </a:txBody>
                  <a:tcPr marL="54864" marR="36576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22303F"/>
                          </a:solidFill>
                          <a:latin typeface="Aptos"/>
                        </a:defRPr>
                      </a:pPr>
                      <a:r>
                        <a:t>Unsupported claims and instruction adherence</a:t>
                      </a:r>
                    </a:p>
                  </a:txBody>
                  <a:tcPr marL="54864" marR="36576" marT="27432" marB="18288" anchor="ctr">
                    <a:solidFill>
                      <a:srgbClr val="FFFFFF"/>
                    </a:solidFill>
                  </a:tcPr>
                </a:tc>
              </a:tr>
              <a:tr h="241668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22303F"/>
                          </a:solidFill>
                          <a:latin typeface="Aptos"/>
                        </a:defRPr>
                      </a:pPr>
                      <a:r>
                        <a:t>Kannada library translation</a:t>
                      </a:r>
                    </a:p>
                  </a:txBody>
                  <a:tcPr marL="54864" marR="36576" marT="27432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22303F"/>
                          </a:solidFill>
                          <a:latin typeface="Aptos"/>
                        </a:defRPr>
                      </a:pPr>
                      <a:r>
                        <a:t>All models lost clarity points</a:t>
                      </a:r>
                    </a:p>
                  </a:txBody>
                  <a:tcPr marL="54864" marR="36576" marT="27432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22303F"/>
                          </a:solidFill>
                          <a:latin typeface="Aptos"/>
                        </a:defRPr>
                      </a:pPr>
                      <a:r>
                        <a:t>Language quality needs human review</a:t>
                      </a:r>
                    </a:p>
                  </a:txBody>
                  <a:tcPr marL="54864" marR="36576" marT="27432" marB="18288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566928" y="5998464"/>
            <a:ext cx="109728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850" b="1" i="0">
                <a:solidFill>
                  <a:srgbClr val="B04747"/>
                </a:solidFill>
                <a:latin typeface="Aptos"/>
              </a:defRPr>
            </a:pPr>
            <a:r>
              <a:t>*Category-derived score is 546/600; Showdown summary implies 548/600.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900" b="1" i="0">
                <a:solidFill>
                  <a:srgbClr val="008991"/>
                </a:solidFill>
                <a:latin typeface="Aptos"/>
              </a:defRPr>
            </a:pPr>
            <a:r>
              <a:t>05 / RECOMMENDATIONS +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21207"/>
            <a:ext cx="111556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2400" b="1" i="0">
                <a:solidFill>
                  <a:srgbClr val="102741"/>
                </a:solidFill>
                <a:latin typeface="Aptos"/>
              </a:defRPr>
            </a:pPr>
            <a:r>
              <a:t>Choose by workload, then validate locally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110642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050" b="0" i="0">
                <a:solidFill>
                  <a:srgbClr val="5B6C7C"/>
                </a:solidFill>
                <a:latin typeface="Aptos"/>
              </a:defRPr>
            </a:pPr>
            <a:r>
              <a:t>The best model depends on failure cost, deployment budget, latency and modality requirements.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1155680" cy="22860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8229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800" b="0" i="0">
                <a:solidFill>
                  <a:srgbClr val="5B6C7C"/>
                </a:solidFill>
                <a:latin typeface="Aptos"/>
              </a:defRPr>
            </a:pPr>
            <a:r>
              <a:t>HACKTOBERFEST HACK DAY  •  OPEN MODEL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5486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200"/>
              </a:spcAft>
              <a:defRPr sz="800" b="1" i="0">
                <a:solidFill>
                  <a:srgbClr val="008991"/>
                </a:solidFill>
                <a:latin typeface="Aptos"/>
              </a:defRPr>
            </a:pPr>
            <a:r>
              <a:t>06 / 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72768"/>
            <a:ext cx="539496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572768"/>
            <a:ext cx="54864" cy="713232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1645920"/>
            <a:ext cx="28803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040" b="1" i="0">
                <a:solidFill>
                  <a:srgbClr val="102741"/>
                </a:solidFill>
                <a:latin typeface="Aptos"/>
              </a:defRPr>
            </a:pPr>
            <a:r>
              <a:t>Strict-format outputs &amp; assistants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645920"/>
            <a:ext cx="21488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200"/>
              </a:spcAft>
              <a:defRPr sz="960" b="1" i="0">
                <a:solidFill>
                  <a:srgbClr val="008991"/>
                </a:solidFill>
                <a:latin typeface="Aptos"/>
              </a:defRPr>
            </a:pPr>
            <a:r>
              <a:t>Gemma 4 31B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892807"/>
            <a:ext cx="50292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919" b="0" i="0">
                <a:solidFill>
                  <a:srgbClr val="22303F"/>
                </a:solidFill>
                <a:latin typeface="Aptos"/>
              </a:defRPr>
            </a:pPr>
            <a:r>
              <a:t>100/100 instruction following; highest overall score.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79" y="1572768"/>
            <a:ext cx="539496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79" y="1572768"/>
            <a:ext cx="54864" cy="713232"/>
          </a:xfrm>
          <a:prstGeom prst="rect">
            <a:avLst/>
          </a:prstGeom>
          <a:solidFill>
            <a:srgbClr val="E2A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1645920"/>
            <a:ext cx="28803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040" b="1" i="0">
                <a:solidFill>
                  <a:srgbClr val="102741"/>
                </a:solidFill>
                <a:latin typeface="Aptos"/>
              </a:defRPr>
            </a:pPr>
            <a:r>
              <a:t>Fact-heavy Q&amp;A &amp; coding support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1645920"/>
            <a:ext cx="21488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200"/>
              </a:spcAft>
              <a:defRPr sz="960" b="1" i="0">
                <a:solidFill>
                  <a:srgbClr val="E2A437"/>
                </a:solidFill>
                <a:latin typeface="Aptos"/>
              </a:defRPr>
            </a:pPr>
            <a:r>
              <a:t>gpt-oss-120b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2783" y="1892807"/>
            <a:ext cx="50292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919" b="0" i="0">
                <a:solidFill>
                  <a:srgbClr val="22303F"/>
                </a:solidFill>
                <a:latin typeface="Aptos"/>
              </a:defRPr>
            </a:pPr>
            <a:r>
              <a:t>100/100 factual and coding; add format checks.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414016"/>
            <a:ext cx="539496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2414016"/>
            <a:ext cx="54864" cy="713232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" y="2487168"/>
            <a:ext cx="28803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040" b="1" i="0">
                <a:solidFill>
                  <a:srgbClr val="102741"/>
                </a:solidFill>
                <a:latin typeface="Aptos"/>
              </a:defRPr>
            </a:pPr>
            <a:r>
              <a:t>Lower active-parameter footprint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2487168"/>
            <a:ext cx="21488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200"/>
              </a:spcAft>
              <a:defRPr sz="960" b="1" i="0">
                <a:solidFill>
                  <a:srgbClr val="008991"/>
                </a:solidFill>
                <a:latin typeface="Aptos"/>
              </a:defRPr>
            </a:pPr>
            <a:r>
              <a:t>Gemma 4 26B A4B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" y="2734056"/>
            <a:ext cx="50292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919" b="0" i="0">
                <a:solidFill>
                  <a:srgbClr val="22303F"/>
                </a:solidFill>
                <a:latin typeface="Aptos"/>
              </a:defRPr>
            </a:pPr>
            <a:r>
              <a:t>3.8B active parameters; good summarisation; test coding and factual outputs.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79" y="2414016"/>
            <a:ext cx="539496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26479" y="2414016"/>
            <a:ext cx="54864" cy="713232"/>
          </a:xfrm>
          <a:prstGeom prst="rect">
            <a:avLst/>
          </a:prstGeom>
          <a:solidFill>
            <a:srgbClr val="E2A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72783" y="2487168"/>
            <a:ext cx="28803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040" b="1" i="0">
                <a:solidFill>
                  <a:srgbClr val="102741"/>
                </a:solidFill>
                <a:latin typeface="Aptos"/>
              </a:defRPr>
            </a:pPr>
            <a:r>
              <a:t>Local coding on constrained hardware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2487168"/>
            <a:ext cx="21488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200"/>
              </a:spcAft>
              <a:defRPr sz="960" b="1" i="0">
                <a:solidFill>
                  <a:srgbClr val="E2A437"/>
                </a:solidFill>
                <a:latin typeface="Aptos"/>
              </a:defRPr>
            </a:pPr>
            <a:r>
              <a:t>gpt-oss-20b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2783" y="2734056"/>
            <a:ext cx="50292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919" b="0" i="0">
                <a:solidFill>
                  <a:srgbClr val="22303F"/>
                </a:solidFill>
                <a:latin typeface="Aptos"/>
              </a:defRPr>
            </a:pPr>
            <a:r>
              <a:t>100/100 coding in this test; verify factual claims and hardware fit.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401568"/>
            <a:ext cx="11064240" cy="502920"/>
          </a:xfrm>
          <a:prstGeom prst="roundRect">
            <a:avLst>
              <a:gd name="adj" fmla="val 12000"/>
            </a:avLst>
          </a:prstGeom>
          <a:solidFill>
            <a:srgbClr val="DA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" y="3511296"/>
            <a:ext cx="10698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940" b="1" i="0">
                <a:solidFill>
                  <a:srgbClr val="102741"/>
                </a:solidFill>
                <a:latin typeface="Aptos"/>
              </a:defRPr>
            </a:pPr>
            <a:r>
              <a:t>DEPLOYMENT CHECKLIST  •  Benchmark your prompts • measure latency and cost • test long-context and multimodal inputs • add output validation • keep human review for high-impact answers.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114800"/>
            <a:ext cx="3657600" cy="1783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4114800"/>
            <a:ext cx="64008" cy="1783080"/>
          </a:xfrm>
          <a:prstGeom prst="rect">
            <a:avLst/>
          </a:prstGeom>
          <a:solidFill>
            <a:srgbClr val="E2A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" y="4224528"/>
            <a:ext cx="33832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150" b="1" i="0">
                <a:solidFill>
                  <a:srgbClr val="102741"/>
                </a:solidFill>
                <a:latin typeface="Aptos"/>
              </a:defRPr>
            </a:pPr>
            <a:r>
              <a:t>LIMITATIONS IN THE SOURCE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" y="4535424"/>
            <a:ext cx="3383280" cy="1307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010" b="0" i="0">
                <a:solidFill>
                  <a:srgbClr val="22303F"/>
                </a:solidFill>
                <a:latin typeface="Aptos"/>
              </a:defRPr>
            </a:pPr>
            <a:r>
              <a:t>• One scorer per model; scorer strictness may differ.</a:t>
            </a:r>
          </a:p>
          <a:p>
            <a:pPr algn="l">
              <a:spcAft>
                <a:spcPts val="200"/>
              </a:spcAft>
              <a:defRPr sz="1010" b="0" i="0">
                <a:solidFill>
                  <a:srgbClr val="22303F"/>
                </a:solidFill>
                <a:latin typeface="Aptos"/>
              </a:defRPr>
            </a:pPr>
            <a:r>
              <a:t>• One run per prompt; no consistency testing.</a:t>
            </a:r>
          </a:p>
          <a:p>
            <a:pPr algn="l">
              <a:spcAft>
                <a:spcPts val="200"/>
              </a:spcAft>
              <a:defRPr sz="1010" b="0" i="0">
                <a:solidFill>
                  <a:srgbClr val="22303F"/>
                </a:solidFill>
                <a:latin typeface="Aptos"/>
              </a:defRPr>
            </a:pPr>
            <a:r>
              <a:t>• Most prompts are near ceiling, reducing separation.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70832" y="4114800"/>
            <a:ext cx="3383280" cy="1783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70832" y="4114800"/>
            <a:ext cx="64008" cy="1783080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35424" y="4224528"/>
            <a:ext cx="3108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150" b="1" i="0">
                <a:solidFill>
                  <a:srgbClr val="102741"/>
                </a:solidFill>
                <a:latin typeface="Aptos"/>
              </a:defRPr>
            </a:pPr>
            <a:r>
              <a:t>DATA RECONCILIATION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35424" y="4535424"/>
            <a:ext cx="3108960" cy="1307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930" b="0" i="0">
                <a:solidFill>
                  <a:srgbClr val="22303F"/>
                </a:solidFill>
                <a:latin typeface="Aptos"/>
              </a:defRPr>
            </a:pPr>
            <a:r>
              <a:t>Gemma 4 26B A4B is shown as 214/240 in the Showdown summary, but category totals (34+33+37+33+38+38) sum to 213/240. This becomes 546/600; the summary implies 548/600.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909560" y="4114800"/>
            <a:ext cx="3703320" cy="1783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909560" y="4114800"/>
            <a:ext cx="64008" cy="1783080"/>
          </a:xfrm>
          <a:prstGeom prst="rect">
            <a:avLst/>
          </a:prstGeom>
          <a:solidFill>
            <a:srgbClr val="E2A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74152" y="4224528"/>
            <a:ext cx="34290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150" b="1" i="0">
                <a:solidFill>
                  <a:srgbClr val="102741"/>
                </a:solidFill>
                <a:latin typeface="Aptos"/>
              </a:defRPr>
            </a:pPr>
            <a:r>
              <a:t>RECOMMENDED NEXT ROUND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74152" y="4535424"/>
            <a:ext cx="3429000" cy="1307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910" b="0" i="0">
                <a:solidFill>
                  <a:srgbClr val="22303F"/>
                </a:solidFill>
                <a:latin typeface="Aptos"/>
              </a:defRPr>
            </a:pPr>
            <a:r>
              <a:t>1. Add a second independent scorer and reconcile disagreements.</a:t>
            </a:r>
          </a:p>
          <a:p>
            <a:pPr algn="l">
              <a:spcAft>
                <a:spcPts val="200"/>
              </a:spcAft>
              <a:defRPr sz="910" b="0" i="0">
                <a:solidFill>
                  <a:srgbClr val="22303F"/>
                </a:solidFill>
                <a:latin typeface="Aptos"/>
              </a:defRPr>
            </a:pPr>
            <a:r>
              <a:t>2. Use harder, domain-specific prompts; publish the full prompt set.</a:t>
            </a:r>
          </a:p>
          <a:p>
            <a:pPr algn="l">
              <a:spcAft>
                <a:spcPts val="200"/>
              </a:spcAft>
              <a:defRPr sz="910" b="0" i="0">
                <a:solidFill>
                  <a:srgbClr val="22303F"/>
                </a:solidFill>
                <a:latin typeface="Aptos"/>
              </a:defRPr>
            </a:pPr>
            <a:r>
              <a:t>3. Repeat prompts to measure consistency.</a:t>
            </a:r>
          </a:p>
          <a:p>
            <a:pPr algn="l">
              <a:spcAft>
                <a:spcPts val="200"/>
              </a:spcAft>
              <a:defRPr sz="910" b="0" i="0">
                <a:solidFill>
                  <a:srgbClr val="22303F"/>
                </a:solidFill>
                <a:latin typeface="Aptos"/>
              </a:defRPr>
            </a:pPr>
            <a:r>
              <a:t>4. Report latency, throughput, cost, hardware and settings.</a:t>
            </a:r>
          </a:p>
          <a:p>
            <a:pPr algn="l">
              <a:spcAft>
                <a:spcPts val="200"/>
              </a:spcAft>
              <a:defRPr sz="910" b="0" i="0">
                <a:solidFill>
                  <a:srgbClr val="22303F"/>
                </a:solidFill>
                <a:latin typeface="Aptos"/>
              </a:defRPr>
            </a:pPr>
            <a:r>
              <a:t>5. Audit factual and Indian-language outputs with qualified reviewers.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900" b="1" i="0">
                <a:solidFill>
                  <a:srgbClr val="008991"/>
                </a:solidFill>
                <a:latin typeface="Aptos"/>
              </a:defRPr>
            </a:pPr>
            <a:r>
              <a:t>06 / WORKSHEET 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21207"/>
            <a:ext cx="111556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2400" b="1" i="0">
                <a:solidFill>
                  <a:srgbClr val="102741"/>
                </a:solidFill>
                <a:latin typeface="Aptos"/>
              </a:defRPr>
            </a:pPr>
            <a:r>
              <a:t>What is covered — and what remains to finish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110642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050" b="0" i="0">
                <a:solidFill>
                  <a:srgbClr val="5B6C7C"/>
                </a:solidFill>
                <a:latin typeface="Aptos"/>
              </a:defRPr>
            </a:pPr>
            <a:r>
              <a:t>Aligned to the HackDay worksheet’s expected outputs; gaps are explicitly marked rather than guessed.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1155680" cy="22860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8229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800" b="0" i="0">
                <a:solidFill>
                  <a:srgbClr val="5B6C7C"/>
                </a:solidFill>
                <a:latin typeface="Aptos"/>
              </a:defRPr>
            </a:pPr>
            <a:r>
              <a:t>HACKTOBERFEST HACK DAY  •  OPEN MODEL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5486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200"/>
              </a:spcAft>
              <a:defRPr sz="800" b="1" i="0">
                <a:solidFill>
                  <a:srgbClr val="008991"/>
                </a:solidFill>
                <a:latin typeface="Aptos"/>
              </a:defRPr>
            </a:pPr>
            <a:r>
              <a:t>07 / 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72768"/>
            <a:ext cx="1097280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572768"/>
            <a:ext cx="64008" cy="685800"/>
          </a:xfrm>
          <a:prstGeom prst="rect">
            <a:avLst/>
          </a:prstGeom>
          <a:solidFill>
            <a:srgbClr val="E2A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664208"/>
            <a:ext cx="37033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040" b="1" i="0">
                <a:solidFill>
                  <a:srgbClr val="102741"/>
                </a:solidFill>
                <a:latin typeface="Aptos"/>
              </a:defRPr>
            </a:pPr>
            <a:r>
              <a:t>1  MODEL FACT SHEET — PARTIAL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1664208"/>
            <a:ext cx="6858000" cy="4846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960" b="0" i="0">
                <a:solidFill>
                  <a:srgbClr val="22303F"/>
                </a:solidFill>
                <a:latin typeface="Aptos"/>
              </a:defRPr>
            </a:pPr>
            <a:r>
              <a:t>Model, developer, parameters, architecture, context, licence and platform are shown. Add verified release date, intended uses, supported languages and model-card limitations.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404872"/>
            <a:ext cx="1097280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2404872"/>
            <a:ext cx="64008" cy="685800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496312"/>
            <a:ext cx="37033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040" b="1" i="0">
                <a:solidFill>
                  <a:srgbClr val="102741"/>
                </a:solidFill>
                <a:latin typeface="Aptos"/>
              </a:defRPr>
            </a:pPr>
            <a:r>
              <a:t>2  COMPLETED SCORECARD — SEPARATE 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496312"/>
            <a:ext cx="6858000" cy="4846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960" b="0" i="0">
                <a:solidFill>
                  <a:srgbClr val="22303F"/>
                </a:solidFill>
                <a:latin typeface="Aptos"/>
              </a:defRPr>
            </a:pPr>
            <a:r>
              <a:t>The deck summarizes overall/category scores and examples. Full spreadsheet should contain one row per prompt × model, all four scores, total, category and notes.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236976"/>
            <a:ext cx="1097280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3236976"/>
            <a:ext cx="64008" cy="685800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3328416"/>
            <a:ext cx="37033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040" b="1" i="0">
                <a:solidFill>
                  <a:srgbClr val="102741"/>
                </a:solidFill>
                <a:latin typeface="Aptos"/>
              </a:defRPr>
            </a:pPr>
            <a:r>
              <a:t>3  ANALYSIS OF RESULTS — INCLUDED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3328416"/>
            <a:ext cx="6858000" cy="4846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960" b="0" i="0">
                <a:solidFill>
                  <a:srgbClr val="22303F"/>
                </a:solidFill>
                <a:latin typeface="Aptos"/>
              </a:defRPr>
            </a:pPr>
            <a:r>
              <a:t>Overall and category comparisons, model profiles, failure examples, caveats and a data discrepancy are included. Add screenshots of actual responses to strengthen evidence.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069080"/>
            <a:ext cx="1097280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" y="4069080"/>
            <a:ext cx="64008" cy="685800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4160520"/>
            <a:ext cx="37033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040" b="1" i="0">
                <a:solidFill>
                  <a:srgbClr val="102741"/>
                </a:solidFill>
                <a:latin typeface="Aptos"/>
              </a:defRPr>
            </a:pPr>
            <a:r>
              <a:t>4  RECOMMENDATIONS — INCLUDED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4160520"/>
            <a:ext cx="6858000" cy="4846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960" b="0" i="0">
                <a:solidFill>
                  <a:srgbClr val="22303F"/>
                </a:solidFill>
                <a:latin typeface="Aptos"/>
              </a:defRPr>
            </a:pPr>
            <a:r>
              <a:t>Use-case recommendations are included with observed scores and limitations. Keep them provisional because the test is small and has one scorer per model.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4901184"/>
            <a:ext cx="1097280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4360" y="4901184"/>
            <a:ext cx="64008" cy="685800"/>
          </a:xfrm>
          <a:prstGeom prst="rect">
            <a:avLst/>
          </a:prstGeom>
          <a:solidFill>
            <a:srgbClr val="E2A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4992624"/>
            <a:ext cx="37033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040" b="1" i="0">
                <a:solidFill>
                  <a:srgbClr val="102741"/>
                </a:solidFill>
                <a:latin typeface="Aptos"/>
              </a:defRPr>
            </a:pPr>
            <a:r>
              <a:t>5  LIVE DEMONSTRATION — ADDITIONAL SLIDE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4992624"/>
            <a:ext cx="6858000" cy="4846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960" b="0" i="0">
                <a:solidFill>
                  <a:srgbClr val="22303F"/>
                </a:solidFill>
                <a:latin typeface="Aptos"/>
              </a:defRPr>
            </a:pPr>
            <a:r>
              <a:t>The next slide gives a step-by-step live demo. Prepare two playgrounds, use the same audience prompt and settings, and compare responses with the official rubric.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5852160"/>
            <a:ext cx="10972800" cy="411480"/>
          </a:xfrm>
          <a:prstGeom prst="roundRect">
            <a:avLst>
              <a:gd name="adj" fmla="val 12000"/>
            </a:avLst>
          </a:prstGeom>
          <a:solidFill>
            <a:srgbClr val="FCF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952744"/>
            <a:ext cx="10607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950" b="1" i="0">
                <a:solidFill>
                  <a:srgbClr val="102741"/>
                </a:solidFill>
                <a:latin typeface="Aptos"/>
              </a:defRPr>
            </a:pPr>
            <a:r>
              <a:t>Before presenting: verify model-card facts and licence terms against official sources; do not present missing facts as confirmed.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7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900" b="1" i="0">
                <a:solidFill>
                  <a:srgbClr val="E2A437"/>
                </a:solidFill>
                <a:latin typeface="Aptos"/>
              </a:defRPr>
            </a:pPr>
            <a:r>
              <a:t>07 / LIVE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2400" b="1" i="0">
                <a:solidFill>
                  <a:srgbClr val="FFFFFF"/>
                </a:solidFill>
                <a:latin typeface="Aptos"/>
              </a:defRPr>
            </a:pPr>
            <a:r>
              <a:t>Audience prompt → two models → evidence-based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34440"/>
            <a:ext cx="107899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050" b="0" i="0">
                <a:solidFill>
                  <a:srgbClr val="CFDEEB"/>
                </a:solidFill>
                <a:latin typeface="Aptos"/>
              </a:defRPr>
            </a:pPr>
            <a:r>
              <a:t>Worksheet asks the team to run one audience prompt on two models and discuss the differences.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83080"/>
            <a:ext cx="5349240" cy="932688"/>
          </a:xfrm>
          <a:prstGeom prst="roundRect">
            <a:avLst>
              <a:gd name="adj" fmla="val 12000"/>
            </a:avLst>
          </a:prstGeom>
          <a:solidFill>
            <a:srgbClr val="193754"/>
          </a:solidFill>
          <a:ln>
            <a:solidFill>
              <a:srgbClr val="3451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901952"/>
            <a:ext cx="4983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100" b="1" i="0">
                <a:solidFill>
                  <a:srgbClr val="E2A437"/>
                </a:solidFill>
                <a:latin typeface="Aptos"/>
              </a:defRPr>
            </a:pPr>
            <a:r>
              <a:t>01  COLLECT THE PROMPT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185416"/>
            <a:ext cx="4983480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019" b="0" i="0">
                <a:solidFill>
                  <a:srgbClr val="FFFFFF"/>
                </a:solidFill>
                <a:latin typeface="Aptos"/>
              </a:defRPr>
            </a:pPr>
            <a:r>
              <a:t>Ask the audience for a clear, answerable prompt. Confirm what a good answer should contain.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783080"/>
            <a:ext cx="5349240" cy="932688"/>
          </a:xfrm>
          <a:prstGeom prst="roundRect">
            <a:avLst>
              <a:gd name="adj" fmla="val 12000"/>
            </a:avLst>
          </a:prstGeom>
          <a:solidFill>
            <a:srgbClr val="193754"/>
          </a:solidFill>
          <a:ln>
            <a:solidFill>
              <a:srgbClr val="3451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6792" y="1901952"/>
            <a:ext cx="4983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100" b="1" i="0">
                <a:solidFill>
                  <a:srgbClr val="61DAD6"/>
                </a:solidFill>
                <a:latin typeface="Aptos"/>
              </a:defRPr>
            </a:pPr>
            <a:r>
              <a:t>02  RUN BOTH MODELS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6792" y="2185416"/>
            <a:ext cx="4983480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019" b="0" i="0">
                <a:solidFill>
                  <a:srgbClr val="FFFFFF"/>
                </a:solidFill>
                <a:latin typeface="Aptos"/>
              </a:defRPr>
            </a:pPr>
            <a:r>
              <a:t>Use the exact same prompt, system prompt and temperature. Start a fresh conversation for each model.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926080"/>
            <a:ext cx="5349240" cy="932688"/>
          </a:xfrm>
          <a:prstGeom prst="roundRect">
            <a:avLst>
              <a:gd name="adj" fmla="val 12000"/>
            </a:avLst>
          </a:prstGeom>
          <a:solidFill>
            <a:srgbClr val="193754"/>
          </a:solidFill>
          <a:ln>
            <a:solidFill>
              <a:srgbClr val="3451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3044952"/>
            <a:ext cx="4983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100" b="1" i="0">
                <a:solidFill>
                  <a:srgbClr val="61DAD6"/>
                </a:solidFill>
                <a:latin typeface="Aptos"/>
              </a:defRPr>
            </a:pPr>
            <a:r>
              <a:t>03  COMPARE RESPONSES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3328416"/>
            <a:ext cx="4983480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019" b="0" i="0">
                <a:solidFill>
                  <a:srgbClr val="FFFFFF"/>
                </a:solidFill>
                <a:latin typeface="Aptos"/>
              </a:defRPr>
            </a:pPr>
            <a:r>
              <a:t>Show the two answers side by side. Point out factual differences, instruction compliance, clarity and uncertainty.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926080"/>
            <a:ext cx="5349240" cy="932688"/>
          </a:xfrm>
          <a:prstGeom prst="roundRect">
            <a:avLst>
              <a:gd name="adj" fmla="val 12000"/>
            </a:avLst>
          </a:prstGeom>
          <a:solidFill>
            <a:srgbClr val="193754"/>
          </a:solidFill>
          <a:ln>
            <a:solidFill>
              <a:srgbClr val="3451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3044952"/>
            <a:ext cx="4983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100" b="1" i="0">
                <a:solidFill>
                  <a:srgbClr val="E2A437"/>
                </a:solidFill>
                <a:latin typeface="Aptos"/>
              </a:defRPr>
            </a:pPr>
            <a:r>
              <a:t>04  SCORE WITH THE RUBRIC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792" y="3328416"/>
            <a:ext cx="4983480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019" b="0" i="0">
                <a:solidFill>
                  <a:srgbClr val="FFFFFF"/>
                </a:solidFill>
                <a:latin typeface="Aptos"/>
              </a:defRPr>
            </a:pPr>
            <a:r>
              <a:t>Score correctness, instruction following, clarity and honesty using 1 / 3 / 5; explain evidence for each score.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4224528"/>
            <a:ext cx="5349240" cy="960120"/>
          </a:xfrm>
          <a:prstGeom prst="roundRect">
            <a:avLst>
              <a:gd name="adj" fmla="val 12000"/>
            </a:avLst>
          </a:prstGeom>
          <a:solidFill>
            <a:srgbClr val="193754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" y="4224528"/>
            <a:ext cx="64008" cy="960120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" y="4334256"/>
            <a:ext cx="5074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150" b="1" i="0">
                <a:solidFill>
                  <a:srgbClr val="102741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LIVE SETUP CHECKLIST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4645152"/>
            <a:ext cx="5074920" cy="4846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050" b="0" i="0">
                <a:solidFill>
                  <a:srgbClr val="22303F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Open both platforms • check access • prepare a backup prompt • assign presenter/operator roles.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224528"/>
            <a:ext cx="5349240" cy="960120"/>
          </a:xfrm>
          <a:prstGeom prst="roundRect">
            <a:avLst>
              <a:gd name="adj" fmla="val 12000"/>
            </a:avLst>
          </a:prstGeom>
          <a:solidFill>
            <a:srgbClr val="193754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2200" y="4224528"/>
            <a:ext cx="64008" cy="960120"/>
          </a:xfrm>
          <a:prstGeom prst="rect">
            <a:avLst/>
          </a:prstGeom>
          <a:solidFill>
            <a:srgbClr val="E2A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36792" y="4334256"/>
            <a:ext cx="5074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150" b="1" i="0">
                <a:solidFill>
                  <a:srgbClr val="102741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BACKUP PLAN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36792" y="4645152"/>
            <a:ext cx="5074920" cy="4846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050" b="0" i="0">
                <a:solidFill>
                  <a:srgbClr val="22303F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If internet/playground fails, show saved response screenshots and clearly label them as pre-recorded—not live.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5413248"/>
            <a:ext cx="10927080" cy="640080"/>
          </a:xfrm>
          <a:prstGeom prst="roundRect">
            <a:avLst>
              <a:gd name="adj" fmla="val 12000"/>
            </a:avLst>
          </a:prstGeom>
          <a:solidFill>
            <a:srgbClr val="2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513832"/>
            <a:ext cx="1056132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050" b="1" i="0">
                <a:solidFill>
                  <a:srgbClr val="FFFFFF"/>
                </a:solidFill>
                <a:latin typeface="Aptos"/>
              </a:defRPr>
            </a:pPr>
            <a:r>
              <a:t>Suggested closing: “The best model depends on the task. Our recommendation is based on these prompts and scores, and needs further validation before deployment.”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6199632"/>
            <a:ext cx="10789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850" b="0" i="0">
                <a:solidFill>
                  <a:srgbClr val="CFDEEB"/>
                </a:solidFill>
                <a:latin typeface="Aptos"/>
              </a:defRPr>
            </a:pPr>
            <a:r>
              <a:t>Reminder: one scorer per model and one run per prompt are limitations—disclose them to judges.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519672"/>
            <a:ext cx="5486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200"/>
              </a:spcAft>
              <a:defRPr sz="800" b="1" i="0">
                <a:solidFill>
                  <a:srgbClr val="C4D8E6"/>
                </a:solidFill>
                <a:latin typeface="Aptos"/>
              </a:defRPr>
            </a:pPr>
            <a:r>
              <a:t>08 /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